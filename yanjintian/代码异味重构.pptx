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6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7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78" r:id="rId3"/>
    <p:sldMasterId id="2147483684" r:id="rId4"/>
    <p:sldMasterId id="2147483690" r:id="rId5"/>
    <p:sldMasterId id="2147483696" r:id="rId6"/>
    <p:sldMasterId id="2147483720" r:id="rId7"/>
    <p:sldMasterId id="2147483726" r:id="rId8"/>
  </p:sldMasterIdLst>
  <p:notesMasterIdLst>
    <p:notesMasterId r:id="rId23"/>
  </p:notesMasterIdLst>
  <p:sldIdLst>
    <p:sldId id="256" r:id="rId9"/>
    <p:sldId id="257" r:id="rId10"/>
    <p:sldId id="274" r:id="rId11"/>
    <p:sldId id="275" r:id="rId12"/>
    <p:sldId id="260" r:id="rId13"/>
    <p:sldId id="276" r:id="rId14"/>
    <p:sldId id="262" r:id="rId15"/>
    <p:sldId id="263" r:id="rId16"/>
    <p:sldId id="264" r:id="rId17"/>
    <p:sldId id="265" r:id="rId18"/>
    <p:sldId id="266" r:id="rId19"/>
    <p:sldId id="277" r:id="rId20"/>
    <p:sldId id="270" r:id="rId21"/>
    <p:sldId id="271" r:id="rId22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52" autoAdjust="0"/>
  </p:normalViewPr>
  <p:slideViewPr>
    <p:cSldViewPr>
      <p:cViewPr>
        <p:scale>
          <a:sx n="33" d="100"/>
          <a:sy n="33" d="100"/>
        </p:scale>
        <p:origin x="28" y="11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8C5985-C3DA-48F8-9201-F17B2550132E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3C1BE-8D4D-4951-83A8-939ABC368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36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73C1BE-8D4D-4951-83A8-939ABC36820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875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FF54A-56A5-48EB-BD47-8B9C69D5530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8357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73C1BE-8D4D-4951-83A8-939ABC36820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455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73C1BE-8D4D-4951-83A8-939ABC36820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232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10" Type="http://schemas.openxmlformats.org/officeDocument/2006/relationships/image" Target="../media/image11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10" Type="http://schemas.openxmlformats.org/officeDocument/2006/relationships/image" Target="../media/image11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10" Type="http://schemas.openxmlformats.org/officeDocument/2006/relationships/image" Target="../media/image11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10" Type="http://schemas.openxmlformats.org/officeDocument/2006/relationships/image" Target="../media/image11.jpg"/><Relationship Id="rId4" Type="http://schemas.openxmlformats.org/officeDocument/2006/relationships/image" Target="../media/image5.jpg"/><Relationship Id="rId9" Type="http://schemas.openxmlformats.org/officeDocument/2006/relationships/image" Target="../media/image10.jp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05315E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5315E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5315E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5315E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7555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139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2032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4567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1" y="1417582"/>
            <a:ext cx="3570907" cy="5827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01302" y="1417582"/>
            <a:ext cx="1746126" cy="58274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10352" y="1433335"/>
            <a:ext cx="534849" cy="5512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1049" y="1669582"/>
            <a:ext cx="393271" cy="944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90169" y="1417582"/>
            <a:ext cx="1164083" cy="56699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53088" y="1464834"/>
            <a:ext cx="440464" cy="7874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41719" y="8741313"/>
            <a:ext cx="2973134" cy="440998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23714" y="9198062"/>
            <a:ext cx="3791139" cy="803247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91139" y="10017059"/>
            <a:ext cx="3523714" cy="866247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7708122" y="1913703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849" y="0"/>
                </a:lnTo>
              </a:path>
            </a:pathLst>
          </a:custGeom>
          <a:ln w="629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1754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2660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4187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7031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95035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1" y="1417582"/>
            <a:ext cx="3570907" cy="5827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01302" y="1417582"/>
            <a:ext cx="1746126" cy="58274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10352" y="1433335"/>
            <a:ext cx="534849" cy="5512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1049" y="1669582"/>
            <a:ext cx="393271" cy="944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90169" y="1417582"/>
            <a:ext cx="1164083" cy="56699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53088" y="1464834"/>
            <a:ext cx="440464" cy="7874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41719" y="8741313"/>
            <a:ext cx="2973134" cy="440998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23714" y="9198062"/>
            <a:ext cx="3791139" cy="803247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91139" y="10017059"/>
            <a:ext cx="3523714" cy="866247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7708122" y="1913703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849" y="0"/>
                </a:lnTo>
              </a:path>
            </a:pathLst>
          </a:custGeom>
          <a:ln w="629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048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51417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2678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3773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45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1" y="1417582"/>
            <a:ext cx="3570907" cy="5827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01302" y="1417582"/>
            <a:ext cx="1746126" cy="58274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10352" y="1433335"/>
            <a:ext cx="534849" cy="5512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1049" y="1669582"/>
            <a:ext cx="393271" cy="944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90169" y="1417582"/>
            <a:ext cx="1164083" cy="56699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53088" y="1464834"/>
            <a:ext cx="440464" cy="7874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41719" y="8741313"/>
            <a:ext cx="2973134" cy="440998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23714" y="9198062"/>
            <a:ext cx="3791139" cy="803247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91139" y="10017059"/>
            <a:ext cx="3523714" cy="866247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7708122" y="1913703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849" y="0"/>
                </a:lnTo>
              </a:path>
            </a:pathLst>
          </a:custGeom>
          <a:ln w="629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37725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35322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56362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31495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11927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1" y="1417582"/>
            <a:ext cx="3570907" cy="5827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01302" y="1417582"/>
            <a:ext cx="1746126" cy="58274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10352" y="1433335"/>
            <a:ext cx="534849" cy="5512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71049" y="1669582"/>
            <a:ext cx="393271" cy="944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90169" y="1417582"/>
            <a:ext cx="1164083" cy="566998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53088" y="1464834"/>
            <a:ext cx="440464" cy="7874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41719" y="8741313"/>
            <a:ext cx="2973134" cy="440998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523714" y="9198062"/>
            <a:ext cx="3791139" cy="803247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791139" y="10017059"/>
            <a:ext cx="3523714" cy="866247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7708122" y="1913703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849" y="0"/>
                </a:lnTo>
              </a:path>
            </a:pathLst>
          </a:custGeom>
          <a:ln w="629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1587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23283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DD7E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46922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23283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DD7E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4053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23283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72289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23283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4178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39264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23283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DD7E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40001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23283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DD7E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82970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23283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5113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23283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24065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7948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0331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8014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331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1376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331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03755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331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73992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891" y="1417582"/>
            <a:ext cx="2359630" cy="5827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05756" y="1417582"/>
            <a:ext cx="550580" cy="56699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34991" y="1417582"/>
            <a:ext cx="503387" cy="58274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01302" y="1417582"/>
            <a:ext cx="534849" cy="58274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99076" y="1417582"/>
            <a:ext cx="2957403" cy="5827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153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72193" y="1200134"/>
            <a:ext cx="14359712" cy="8557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05315E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622" y="1417582"/>
            <a:ext cx="1148353" cy="5827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75361" y="1496334"/>
            <a:ext cx="440464" cy="94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9284" y="2786943"/>
            <a:ext cx="3332479" cy="549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828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622" y="1417582"/>
            <a:ext cx="1148353" cy="5827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75361" y="1496334"/>
            <a:ext cx="440464" cy="94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9284" y="2786943"/>
            <a:ext cx="3332479" cy="549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78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622" y="1417582"/>
            <a:ext cx="1148353" cy="5827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75361" y="1496334"/>
            <a:ext cx="440464" cy="94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9284" y="2786943"/>
            <a:ext cx="3332479" cy="549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4296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622" y="1417582"/>
            <a:ext cx="1148353" cy="5827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75361" y="1496334"/>
            <a:ext cx="440464" cy="94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9284" y="2786943"/>
            <a:ext cx="3332479" cy="549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rgbClr val="DD7E2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6448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4957" y="3003504"/>
            <a:ext cx="14275435" cy="498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23283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5750" y="2751508"/>
            <a:ext cx="8695690" cy="4180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DD7E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986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4957" y="3003504"/>
            <a:ext cx="14275435" cy="498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232836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5750" y="2751508"/>
            <a:ext cx="8695690" cy="4180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DD7E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2598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2986" y="1365506"/>
            <a:ext cx="4300855" cy="706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03316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810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12" Type="http://schemas.openxmlformats.org/officeDocument/2006/relationships/image" Target="../media/image2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11" Type="http://schemas.openxmlformats.org/officeDocument/2006/relationships/image" Target="../media/image28.jpg"/><Relationship Id="rId5" Type="http://schemas.openxmlformats.org/officeDocument/2006/relationships/image" Target="../media/image22.jpg"/><Relationship Id="rId10" Type="http://schemas.openxmlformats.org/officeDocument/2006/relationships/image" Target="../media/image27.jpg"/><Relationship Id="rId4" Type="http://schemas.openxmlformats.org/officeDocument/2006/relationships/image" Target="../media/image21.png"/><Relationship Id="rId9" Type="http://schemas.openxmlformats.org/officeDocument/2006/relationships/image" Target="../media/image2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jpg"/><Relationship Id="rId7" Type="http://schemas.openxmlformats.org/officeDocument/2006/relationships/image" Target="../media/image41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jpg"/><Relationship Id="rId7" Type="http://schemas.openxmlformats.org/officeDocument/2006/relationships/image" Target="../media/image48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7.jpg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jpg"/><Relationship Id="rId7" Type="http://schemas.openxmlformats.org/officeDocument/2006/relationships/image" Target="../media/image56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55.jpg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61.png"/><Relationship Id="rId4" Type="http://schemas.openxmlformats.org/officeDocument/2006/relationships/image" Target="../media/image60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61211" y="2947944"/>
            <a:ext cx="8742680" cy="10718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850" b="0" spc="-5" dirty="0">
                <a:latin typeface="SimSun"/>
                <a:cs typeface="SimSun"/>
              </a:rPr>
              <a:t>知识图谱实验教学案例</a:t>
            </a:r>
            <a:endParaRPr sz="6850">
              <a:latin typeface="SimSun"/>
              <a:cs typeface="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6933" y="5036885"/>
            <a:ext cx="8110855" cy="694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-50" dirty="0">
                <a:solidFill>
                  <a:srgbClr val="51526A"/>
                </a:solidFill>
                <a:latin typeface="SimSun"/>
                <a:cs typeface="SimSun"/>
              </a:rPr>
              <a:t>构建代码异味-重构策略知识图谱</a:t>
            </a:r>
            <a:endParaRPr sz="44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68268" y="2992056"/>
            <a:ext cx="8269381" cy="83165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b="0" spc="-50" dirty="0">
                <a:latin typeface="SimSun"/>
                <a:cs typeface="SimSun"/>
              </a:rPr>
              <a:t>第一章：代码异味的背景与现状</a:t>
            </a:r>
            <a:endParaRPr sz="4400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8154" y="2877265"/>
            <a:ext cx="7105095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dirty="0">
                <a:solidFill>
                  <a:srgbClr val="DD812C"/>
                </a:solidFill>
                <a:latin typeface="SimSun"/>
                <a:cs typeface="SimSun"/>
              </a:rPr>
              <a:t>1.1</a:t>
            </a:r>
            <a:r>
              <a:rPr sz="3100" b="1" spc="-40" dirty="0">
                <a:solidFill>
                  <a:srgbClr val="DD812C"/>
                </a:solidFill>
                <a:latin typeface="SimSun"/>
                <a:cs typeface="SimSun"/>
              </a:rPr>
              <a:t>什么是代码异味</a:t>
            </a:r>
            <a:r>
              <a:rPr sz="3100" spc="-30" dirty="0">
                <a:solidFill>
                  <a:srgbClr val="DD812C"/>
                </a:solidFill>
                <a:latin typeface="SimSun"/>
                <a:cs typeface="SimSun"/>
              </a:rPr>
              <a:t>（</a:t>
            </a:r>
            <a:r>
              <a:rPr lang="en-US" altLang="zh-CN" sz="3100" b="1" spc="-30" dirty="0">
                <a:solidFill>
                  <a:srgbClr val="DD812C"/>
                </a:solidFill>
                <a:latin typeface="SimSun"/>
                <a:cs typeface="SimSun"/>
              </a:rPr>
              <a:t>Code Smells</a:t>
            </a:r>
            <a:r>
              <a:rPr sz="3150" spc="-10" dirty="0">
                <a:solidFill>
                  <a:srgbClr val="DD812C"/>
                </a:solidFill>
                <a:latin typeface="SimSun"/>
                <a:cs typeface="SimSun"/>
              </a:rPr>
              <a:t>）？</a:t>
            </a:r>
            <a:endParaRPr sz="3150" dirty="0">
              <a:latin typeface="SimSun"/>
              <a:cs typeface="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3183" y="3653158"/>
            <a:ext cx="7597140" cy="498094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43815" marR="68580">
              <a:lnSpc>
                <a:spcPct val="139900"/>
              </a:lnSpc>
              <a:spcBef>
                <a:spcPts val="35"/>
              </a:spcBef>
            </a:pPr>
            <a:r>
              <a:rPr sz="2100" spc="-5" dirty="0">
                <a:latin typeface="SimSun"/>
                <a:cs typeface="SimSun"/>
              </a:rPr>
              <a:t>代码异味并非程序中的逻辑错误或编译错误，而是指代码在设计</a:t>
            </a:r>
            <a:r>
              <a:rPr sz="2100" dirty="0">
                <a:latin typeface="SimSun"/>
                <a:cs typeface="SimSun"/>
              </a:rPr>
              <a:t>和编写中存在</a:t>
            </a:r>
            <a:r>
              <a:rPr sz="2100" spc="-30" dirty="0">
                <a:solidFill>
                  <a:srgbClr val="0D3057"/>
                </a:solidFill>
                <a:latin typeface="SimSun"/>
                <a:cs typeface="SimSun"/>
              </a:rPr>
              <a:t>的</a:t>
            </a:r>
            <a:r>
              <a:rPr sz="2100" b="1" spc="-30" dirty="0">
                <a:solidFill>
                  <a:srgbClr val="0D3057"/>
                </a:solidFill>
                <a:latin typeface="SimSun"/>
                <a:cs typeface="SimSun"/>
              </a:rPr>
              <a:t>潜在缺陷。</a:t>
            </a:r>
            <a:r>
              <a:rPr sz="2100" spc="-5" dirty="0">
                <a:latin typeface="SimSun"/>
                <a:cs typeface="SimSun"/>
              </a:rPr>
              <a:t>这些缺陷通常是深层问题的表面症</a:t>
            </a:r>
            <a:r>
              <a:rPr sz="2100" spc="-50" dirty="0">
                <a:latin typeface="SimSun"/>
                <a:cs typeface="SimSun"/>
              </a:rPr>
              <a:t> </a:t>
            </a:r>
            <a:r>
              <a:rPr sz="2100" spc="-5" dirty="0">
                <a:latin typeface="SimSun"/>
                <a:cs typeface="SimSun"/>
              </a:rPr>
              <a:t>状，会严重影响软件的可维护性和演化效率。</a:t>
            </a:r>
            <a:endParaRPr sz="2100" dirty="0">
              <a:latin typeface="SimSun"/>
              <a:cs typeface="SimSun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2100" dirty="0">
              <a:latin typeface="SimSun"/>
              <a:cs typeface="SimSun"/>
            </a:endParaRPr>
          </a:p>
          <a:p>
            <a:pPr marL="51435">
              <a:lnSpc>
                <a:spcPct val="100000"/>
              </a:lnSpc>
            </a:pPr>
            <a:r>
              <a:rPr sz="2100" b="1" spc="-35" dirty="0">
                <a:solidFill>
                  <a:srgbClr val="0D3057"/>
                </a:solidFill>
                <a:latin typeface="SimSun"/>
                <a:cs typeface="SimSun"/>
              </a:rPr>
              <a:t>常见特征:</a:t>
            </a:r>
            <a:endParaRPr sz="2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240"/>
              </a:spcBef>
            </a:pPr>
            <a:r>
              <a:rPr sz="1800" b="1" spc="225" dirty="0">
                <a:solidFill>
                  <a:srgbClr val="0D3057"/>
                </a:solidFill>
                <a:latin typeface="Arial Unicode MS"/>
                <a:cs typeface="Arial Unicode MS"/>
              </a:rPr>
              <a:t>・ </a:t>
            </a:r>
            <a:r>
              <a:rPr sz="2100" b="1" spc="-30" dirty="0">
                <a:solidFill>
                  <a:srgbClr val="0D3057"/>
                </a:solidFill>
                <a:latin typeface="SimSun"/>
                <a:cs typeface="SimSun"/>
              </a:rPr>
              <a:t>违反封装：</a:t>
            </a:r>
            <a:r>
              <a:rPr sz="2100" dirty="0">
                <a:solidFill>
                  <a:srgbClr val="0D3057"/>
                </a:solidFill>
                <a:latin typeface="SimSun"/>
                <a:cs typeface="SimSun"/>
              </a:rPr>
              <a:t>过度暴露内部细节（如内部字段访问）</a:t>
            </a:r>
            <a:r>
              <a:rPr sz="2100" spc="-50" dirty="0">
                <a:solidFill>
                  <a:srgbClr val="0D3057"/>
                </a:solidFill>
                <a:latin typeface="SimSun"/>
                <a:cs typeface="SimSun"/>
              </a:rPr>
              <a:t>。</a:t>
            </a:r>
            <a:endParaRPr sz="2100" dirty="0">
              <a:latin typeface="SimSun"/>
              <a:cs typeface="SimSun"/>
            </a:endParaRPr>
          </a:p>
          <a:p>
            <a:pPr marL="365760" marR="13335" indent="-346075">
              <a:lnSpc>
                <a:spcPct val="142300"/>
              </a:lnSpc>
              <a:spcBef>
                <a:spcPts val="1115"/>
              </a:spcBef>
            </a:pPr>
            <a:r>
              <a:rPr sz="1800" b="1" spc="225" dirty="0">
                <a:solidFill>
                  <a:srgbClr val="0D3057"/>
                </a:solidFill>
                <a:latin typeface="Arial Unicode MS"/>
                <a:cs typeface="Arial Unicode MS"/>
              </a:rPr>
              <a:t>・ </a:t>
            </a:r>
            <a:r>
              <a:rPr sz="2100" b="1" spc="-30" dirty="0">
                <a:solidFill>
                  <a:srgbClr val="0D3057"/>
                </a:solidFill>
                <a:latin typeface="SimSun"/>
                <a:cs typeface="SimSun"/>
              </a:rPr>
              <a:t>复杂度过高：</a:t>
            </a:r>
            <a:r>
              <a:rPr sz="2100" dirty="0">
                <a:solidFill>
                  <a:srgbClr val="0D3057"/>
                </a:solidFill>
                <a:latin typeface="SimSun"/>
                <a:cs typeface="SimSun"/>
              </a:rPr>
              <a:t>单个函数或类承担了过多的职责（</a:t>
            </a:r>
            <a:r>
              <a:rPr sz="2100" spc="-10" dirty="0">
                <a:solidFill>
                  <a:srgbClr val="0D3057"/>
                </a:solidFill>
                <a:latin typeface="SimSun"/>
                <a:cs typeface="SimSun"/>
              </a:rPr>
              <a:t>如长方法、大</a:t>
            </a:r>
            <a:r>
              <a:rPr sz="2100" dirty="0">
                <a:solidFill>
                  <a:srgbClr val="0D3057"/>
                </a:solidFill>
                <a:latin typeface="SimSun"/>
                <a:cs typeface="SimSun"/>
              </a:rPr>
              <a:t>类）</a:t>
            </a:r>
            <a:r>
              <a:rPr sz="2100" spc="-50" dirty="0">
                <a:solidFill>
                  <a:srgbClr val="0D3057"/>
                </a:solidFill>
                <a:latin typeface="SimSun"/>
                <a:cs typeface="SimSun"/>
              </a:rPr>
              <a:t>。</a:t>
            </a:r>
            <a:endParaRPr sz="2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sz="1800" b="1" spc="220" dirty="0">
                <a:solidFill>
                  <a:srgbClr val="0D3057"/>
                </a:solidFill>
                <a:latin typeface="Arial Unicode MS"/>
                <a:cs typeface="Arial Unicode MS"/>
              </a:rPr>
              <a:t>・ </a:t>
            </a:r>
            <a:r>
              <a:rPr sz="2100" b="1" spc="-30" dirty="0">
                <a:solidFill>
                  <a:srgbClr val="0D3057"/>
                </a:solidFill>
                <a:latin typeface="SimSun"/>
                <a:cs typeface="SimSun"/>
              </a:rPr>
              <a:t>重复性：</a:t>
            </a:r>
            <a:r>
              <a:rPr sz="2100" spc="-5" dirty="0">
                <a:solidFill>
                  <a:srgbClr val="0D3057"/>
                </a:solidFill>
                <a:latin typeface="SimSun"/>
                <a:cs typeface="SimSun"/>
              </a:rPr>
              <a:t>相同逻辑散布在多处，修改时易遗漏。</a:t>
            </a:r>
            <a:endParaRPr sz="210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sz="1800" b="1" spc="235" dirty="0">
                <a:solidFill>
                  <a:srgbClr val="0D3057"/>
                </a:solidFill>
                <a:latin typeface="Arial Unicode MS"/>
                <a:cs typeface="Arial Unicode MS"/>
              </a:rPr>
              <a:t>・ </a:t>
            </a:r>
            <a:r>
              <a:rPr sz="2100" b="1" spc="-30" dirty="0" err="1">
                <a:solidFill>
                  <a:srgbClr val="0D3057"/>
                </a:solidFill>
                <a:latin typeface="SimSun"/>
                <a:cs typeface="SimSun"/>
              </a:rPr>
              <a:t>低效实践：</a:t>
            </a:r>
            <a:r>
              <a:rPr sz="2100" dirty="0" err="1">
                <a:solidFill>
                  <a:srgbClr val="0D3057"/>
                </a:solidFill>
                <a:latin typeface="SimSun"/>
                <a:cs typeface="SimSun"/>
              </a:rPr>
              <a:t>如不合理的</a:t>
            </a:r>
            <a:r>
              <a:rPr lang="en-US" altLang="zh-CN" sz="2400" spc="-10" dirty="0" err="1">
                <a:solidFill>
                  <a:srgbClr val="0D3057"/>
                </a:solidFill>
                <a:latin typeface="Arial Unicode MS"/>
                <a:cs typeface="SimSun"/>
              </a:rPr>
              <a:t>SQL</a:t>
            </a:r>
            <a:r>
              <a:rPr sz="2100" spc="-5" dirty="0" err="1">
                <a:solidFill>
                  <a:srgbClr val="0D3057"/>
                </a:solidFill>
                <a:latin typeface="SimSun"/>
                <a:cs typeface="SimSun"/>
              </a:rPr>
              <a:t>查询、慢网络传输下的重数据</a:t>
            </a:r>
            <a:r>
              <a:rPr sz="2100" spc="-5" dirty="0">
                <a:solidFill>
                  <a:srgbClr val="0D3057"/>
                </a:solidFill>
                <a:latin typeface="SimSun"/>
                <a:cs typeface="SimSun"/>
              </a:rPr>
              <a:t>。</a:t>
            </a:r>
            <a:endParaRPr sz="2100" dirty="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4596" y="1455842"/>
            <a:ext cx="6716395" cy="694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b="0" spc="-50" dirty="0">
                <a:latin typeface="SimSun"/>
                <a:cs typeface="SimSun"/>
              </a:rPr>
              <a:t>代码异味的影响与重构困境</a:t>
            </a:r>
            <a:endParaRPr sz="4400">
              <a:latin typeface="SimSun"/>
              <a:cs typeface="SimSu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65786" y="3301335"/>
            <a:ext cx="1988820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b="1" spc="-45" dirty="0">
                <a:solidFill>
                  <a:srgbClr val="DD812C"/>
                </a:solidFill>
                <a:latin typeface="SimSun"/>
                <a:cs typeface="SimSun"/>
              </a:rPr>
              <a:t>技术债积累</a:t>
            </a:r>
            <a:endParaRPr sz="3100" b="1" dirty="0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36281" y="3301335"/>
            <a:ext cx="2381885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b="1" spc="-45" dirty="0">
                <a:solidFill>
                  <a:srgbClr val="DD812C"/>
                </a:solidFill>
                <a:latin typeface="SimSun"/>
                <a:cs typeface="SimSun"/>
              </a:rPr>
              <a:t>维护成本激增</a:t>
            </a:r>
            <a:endParaRPr sz="3100" b="1" dirty="0">
              <a:latin typeface="SimSun"/>
              <a:cs typeface="SimSu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5786" y="4045815"/>
            <a:ext cx="4305935" cy="225615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39900"/>
              </a:lnSpc>
              <a:spcBef>
                <a:spcPts val="35"/>
              </a:spcBef>
            </a:pPr>
            <a:r>
              <a:rPr sz="2100" spc="-5" dirty="0" err="1">
                <a:latin typeface="SimSun"/>
                <a:cs typeface="SimSun"/>
              </a:rPr>
              <a:t>代码异味是“技术债"的主要来源。随着开发推进，不合理的结构会产生高昂的</a:t>
            </a:r>
            <a:r>
              <a:rPr lang="zh-CN" altLang="en-US" sz="2100" spc="-5" dirty="0">
                <a:latin typeface="SimSun"/>
                <a:cs typeface="SimSun"/>
              </a:rPr>
              <a:t>“</a:t>
            </a:r>
            <a:r>
              <a:rPr sz="2100" spc="-5" dirty="0" err="1">
                <a:latin typeface="SimSun"/>
                <a:cs typeface="SimSun"/>
              </a:rPr>
              <a:t>利息</a:t>
            </a:r>
            <a:r>
              <a:rPr lang="zh-CN" altLang="en-US" sz="2100" spc="-5" dirty="0">
                <a:latin typeface="SimSun"/>
                <a:cs typeface="SimSun"/>
              </a:rPr>
              <a:t>”</a:t>
            </a:r>
            <a:r>
              <a:rPr sz="2100" spc="-5" dirty="0">
                <a:latin typeface="SimSun"/>
                <a:cs typeface="SimSun"/>
              </a:rPr>
              <a:t>，导致后期每增加一</a:t>
            </a:r>
            <a:r>
              <a:rPr sz="2100" spc="-50" dirty="0">
                <a:latin typeface="SimSun"/>
                <a:cs typeface="SimSun"/>
              </a:rPr>
              <a:t> </a:t>
            </a:r>
            <a:r>
              <a:rPr sz="2100" spc="-5" dirty="0">
                <a:latin typeface="SimSun"/>
                <a:cs typeface="SimSun"/>
              </a:rPr>
              <a:t>个简单功能都需要进行大规模的代码变动，最终使项目陷入僵化。</a:t>
            </a:r>
            <a:endParaRPr sz="2100" dirty="0">
              <a:latin typeface="SimSun"/>
              <a:cs typeface="SimSu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36281" y="3981143"/>
            <a:ext cx="4902835" cy="2288062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ct val="135700"/>
              </a:lnSpc>
              <a:spcBef>
                <a:spcPts val="160"/>
              </a:spcBef>
            </a:pPr>
            <a:r>
              <a:rPr sz="2100" spc="110" dirty="0">
                <a:latin typeface="SimSun"/>
                <a:cs typeface="SimSun"/>
              </a:rPr>
              <a:t>据统计， 软件开发 </a:t>
            </a:r>
            <a:r>
              <a:rPr sz="2400" dirty="0">
                <a:latin typeface="Arial Unicode MS"/>
                <a:cs typeface="Arial Unicode MS"/>
              </a:rPr>
              <a:t>8</a:t>
            </a:r>
            <a:r>
              <a:rPr sz="2400" spc="-254" dirty="0">
                <a:latin typeface="Arial Unicode MS"/>
                <a:cs typeface="Arial Unicode MS"/>
              </a:rPr>
              <a:t> </a:t>
            </a:r>
            <a:r>
              <a:rPr sz="2400" dirty="0">
                <a:latin typeface="Arial Unicode MS"/>
                <a:cs typeface="Arial Unicode MS"/>
              </a:rPr>
              <a:t>0</a:t>
            </a:r>
            <a:r>
              <a:rPr sz="2400" spc="-175" dirty="0">
                <a:latin typeface="Arial Unicode MS"/>
                <a:cs typeface="Arial Unicode MS"/>
              </a:rPr>
              <a:t> % </a:t>
            </a:r>
            <a:r>
              <a:rPr sz="2100" spc="325" dirty="0">
                <a:latin typeface="SimSun"/>
                <a:cs typeface="SimSun"/>
              </a:rPr>
              <a:t>的成本花费</a:t>
            </a:r>
            <a:r>
              <a:rPr sz="2100" spc="295" dirty="0">
                <a:latin typeface="SimSun"/>
                <a:cs typeface="SimSun"/>
              </a:rPr>
              <a:t>在维护阶段。由于异味代码难以阅读</a:t>
            </a:r>
            <a:r>
              <a:rPr sz="2100" spc="190" dirty="0">
                <a:latin typeface="SimSun"/>
                <a:cs typeface="SimSun"/>
              </a:rPr>
              <a:t>和理解， 新入职开发者往往需要耗费</a:t>
            </a:r>
            <a:r>
              <a:rPr sz="2100" spc="200" dirty="0">
                <a:latin typeface="SimSun"/>
                <a:cs typeface="SimSun"/>
              </a:rPr>
              <a:t>大量时间进行逆向推导， </a:t>
            </a:r>
            <a:r>
              <a:rPr sz="2100" spc="200" dirty="0" err="1">
                <a:latin typeface="SimSun"/>
                <a:cs typeface="SimSun"/>
              </a:rPr>
              <a:t>且极易在修</a:t>
            </a:r>
            <a:r>
              <a:rPr sz="2100" dirty="0" err="1">
                <a:latin typeface="SimSun"/>
                <a:cs typeface="SimSun"/>
              </a:rPr>
              <a:t>改时引入新的</a:t>
            </a:r>
            <a:r>
              <a:rPr lang="en-US" altLang="zh-CN" sz="2400" spc="-5" dirty="0" err="1">
                <a:latin typeface="Arial Unicode MS"/>
                <a:cs typeface="SimSun"/>
              </a:rPr>
              <a:t>Bug</a:t>
            </a:r>
            <a:r>
              <a:rPr lang="zh-CN" altLang="en-US" sz="2400" spc="-5" dirty="0">
                <a:latin typeface="Arial Unicode MS"/>
                <a:cs typeface="SimSun"/>
              </a:rPr>
              <a:t>。</a:t>
            </a:r>
            <a:endParaRPr sz="2400" dirty="0">
              <a:latin typeface="Arial Unicode MS"/>
              <a:cs typeface="Arial Unicode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22483" y="3293482"/>
            <a:ext cx="3166745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b="1" spc="-45" dirty="0">
                <a:solidFill>
                  <a:srgbClr val="DD812C"/>
                </a:solidFill>
                <a:latin typeface="SimSun"/>
                <a:cs typeface="SimSun"/>
              </a:rPr>
              <a:t>重构知识的碎片化</a:t>
            </a:r>
            <a:endParaRPr sz="3100" b="1" dirty="0">
              <a:latin typeface="SimSun"/>
              <a:cs typeface="SimSu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0191" y="7351998"/>
            <a:ext cx="15245080" cy="936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2300"/>
              </a:lnSpc>
              <a:spcBef>
                <a:spcPts val="100"/>
              </a:spcBef>
            </a:pPr>
            <a:r>
              <a:rPr sz="2100" b="1" spc="-30" dirty="0">
                <a:solidFill>
                  <a:srgbClr val="0D3057"/>
                </a:solidFill>
                <a:latin typeface="SimSun"/>
                <a:cs typeface="SimSun"/>
              </a:rPr>
              <a:t>案例出发点：</a:t>
            </a:r>
            <a:r>
              <a:rPr sz="2100" spc="-5" dirty="0">
                <a:latin typeface="SimSun"/>
                <a:cs typeface="SimSun"/>
              </a:rPr>
              <a:t>为了解决"代码异味找不到对应重构方案"这一真实痛点，我们设计了本案例。通过知识图谱技术，将隐性的专家经验转化为显性的、可检索的结构化知识模型，实现智能化的重构辅助决策。</a:t>
            </a:r>
            <a:endParaRPr sz="2100">
              <a:latin typeface="SimSun"/>
              <a:cs typeface="SimSun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D20ADD-A74B-48D6-2D06-440B6D661CA7}"/>
              </a:ext>
            </a:extLst>
          </p:cNvPr>
          <p:cNvSpPr txBox="1"/>
          <p:nvPr/>
        </p:nvSpPr>
        <p:spPr>
          <a:xfrm>
            <a:off x="13722483" y="4045815"/>
            <a:ext cx="4419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 spc="295" dirty="0">
                <a:latin typeface="SimSun"/>
              </a:rPr>
              <a:t>开发者虽意识到异味，但往往缺乏系统化的重构策略。传统的重构手册</a:t>
            </a:r>
            <a:r>
              <a:rPr lang="en-US" altLang="zh-CN" sz="2100" spc="295" dirty="0">
                <a:latin typeface="SimSun"/>
              </a:rPr>
              <a:t>(</a:t>
            </a:r>
            <a:r>
              <a:rPr lang="zh-CN" altLang="en-US" sz="2100" spc="295" dirty="0">
                <a:latin typeface="SimSun"/>
              </a:rPr>
              <a:t>如</a:t>
            </a:r>
            <a:r>
              <a:rPr lang="en-US" altLang="zh-CN" sz="2100" spc="295" dirty="0">
                <a:latin typeface="SimSun"/>
              </a:rPr>
              <a:t>Martin Fowler</a:t>
            </a:r>
            <a:r>
              <a:rPr lang="zh-CN" altLang="en-US" sz="2100" spc="295" dirty="0">
                <a:latin typeface="SimSun"/>
              </a:rPr>
              <a:t>的名著</a:t>
            </a:r>
            <a:r>
              <a:rPr lang="en-US" altLang="zh-CN" sz="2100" spc="295" dirty="0">
                <a:latin typeface="SimSun"/>
              </a:rPr>
              <a:t>)</a:t>
            </a:r>
            <a:r>
              <a:rPr lang="zh-CN" altLang="en-US" sz="2100" spc="295" dirty="0">
                <a:latin typeface="SimSun"/>
              </a:rPr>
              <a:t>内容繁多，检索效率低，难以快速对应到具体的工程问题中。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02449" y="1447989"/>
            <a:ext cx="8947150" cy="694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b="0" spc="-50" dirty="0">
                <a:latin typeface="SimSun"/>
                <a:cs typeface="SimSun"/>
              </a:rPr>
              <a:t>本次教学内容：知识图谱工程化实践</a:t>
            </a:r>
            <a:endParaRPr sz="4400">
              <a:latin typeface="SimSun"/>
              <a:cs typeface="SimSu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1094596" y="3128405"/>
            <a:ext cx="8640445" cy="527099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080">
              <a:lnSpc>
                <a:spcPct val="123100"/>
              </a:lnSpc>
              <a:spcBef>
                <a:spcPts val="15"/>
              </a:spcBef>
            </a:pPr>
            <a:r>
              <a:rPr spc="325" dirty="0"/>
              <a:t>本案例要求学生模拟一名</a:t>
            </a:r>
            <a:r>
              <a:rPr b="1" spc="160" dirty="0">
                <a:solidFill>
                  <a:srgbClr val="0D3057"/>
                </a:solidFill>
                <a:latin typeface="SimSun"/>
                <a:cs typeface="SimSun"/>
              </a:rPr>
              <a:t>智能软件工程专家， </a:t>
            </a:r>
            <a:r>
              <a:rPr spc="275" dirty="0" err="1"/>
              <a:t>利用人工智能中的</a:t>
            </a:r>
            <a:r>
              <a:rPr spc="270" dirty="0" err="1"/>
              <a:t>知识图谱技术对软件质量维护领域进行赋能。通过</a:t>
            </a:r>
            <a:r>
              <a:rPr lang="en-US" altLang="zh-CN" b="1" spc="270" dirty="0" err="1"/>
              <a:t>python</a:t>
            </a:r>
            <a:r>
              <a:rPr spc="190" dirty="0" err="1"/>
              <a:t>与图数</a:t>
            </a:r>
            <a:endParaRPr sz="2400" dirty="0">
              <a:latin typeface="Arial Unicode MS"/>
              <a:cs typeface="Arial Unicode MS"/>
            </a:endParaRPr>
          </a:p>
          <a:p>
            <a:pPr marL="12700" marR="5080">
              <a:lnSpc>
                <a:spcPts val="3520"/>
              </a:lnSpc>
              <a:spcBef>
                <a:spcPts val="290"/>
              </a:spcBef>
            </a:pPr>
            <a:r>
              <a:rPr spc="305" dirty="0"/>
              <a:t>据库</a:t>
            </a:r>
            <a:r>
              <a:rPr lang="en-US" altLang="zh-CN" sz="2400" spc="305" dirty="0">
                <a:latin typeface="Arial Unicode MS"/>
              </a:rPr>
              <a:t>neo4j</a:t>
            </a:r>
            <a:r>
              <a:rPr spc="200" dirty="0"/>
              <a:t>的结合， 完成从非结构化数据到智能问答系统的完整</a:t>
            </a:r>
            <a:r>
              <a:rPr spc="-10" dirty="0"/>
              <a:t>构建流程。</a:t>
            </a:r>
            <a:endParaRPr sz="2400" dirty="0">
              <a:latin typeface="Arial Unicode MS"/>
              <a:cs typeface="Arial Unicode MS"/>
            </a:endParaRPr>
          </a:p>
          <a:p>
            <a:pPr marL="27940">
              <a:lnSpc>
                <a:spcPct val="100000"/>
              </a:lnSpc>
              <a:spcBef>
                <a:spcPts val="1950"/>
              </a:spcBef>
            </a:pPr>
            <a:r>
              <a:rPr sz="3100" spc="-45" dirty="0">
                <a:solidFill>
                  <a:srgbClr val="DD812C"/>
                </a:solidFill>
              </a:rPr>
              <a:t>实验三大核心任务：</a:t>
            </a:r>
            <a:endParaRPr sz="3100" dirty="0"/>
          </a:p>
          <a:p>
            <a:pPr marL="624205" marR="5080" indent="-281940">
              <a:lnSpc>
                <a:spcPct val="118100"/>
              </a:lnSpc>
              <a:spcBef>
                <a:spcPts val="2025"/>
              </a:spcBef>
              <a:buAutoNum type="arabicPlain"/>
              <a:tabLst>
                <a:tab pos="656590" algn="l"/>
              </a:tabLst>
            </a:pPr>
            <a:r>
              <a:rPr sz="2400" spc="130" dirty="0">
                <a:latin typeface="Arial Unicode MS"/>
                <a:cs typeface="Arial Unicode MS"/>
              </a:rPr>
              <a:t>.</a:t>
            </a:r>
            <a:r>
              <a:rPr b="1" spc="100" dirty="0" err="1">
                <a:solidFill>
                  <a:srgbClr val="0D3057"/>
                </a:solidFill>
                <a:latin typeface="SimSun"/>
                <a:cs typeface="SimSun"/>
              </a:rPr>
              <a:t>图谱建模</a:t>
            </a:r>
            <a:r>
              <a:rPr sz="1850" b="1" spc="120" dirty="0">
                <a:solidFill>
                  <a:srgbClr val="0D3057"/>
                </a:solidFill>
                <a:latin typeface="Arial"/>
                <a:cs typeface="Arial"/>
              </a:rPr>
              <a:t>(</a:t>
            </a:r>
            <a:r>
              <a:rPr lang="en-US" altLang="zh-CN" sz="1850" b="1" spc="120" dirty="0">
                <a:solidFill>
                  <a:srgbClr val="0D3057"/>
                </a:solidFill>
                <a:latin typeface="Arial"/>
                <a:cs typeface="Arial"/>
              </a:rPr>
              <a:t>Modeling</a:t>
            </a:r>
            <a:r>
              <a:rPr b="1" spc="120" dirty="0">
                <a:solidFill>
                  <a:srgbClr val="0D3057"/>
                </a:solidFill>
                <a:latin typeface="SimSun"/>
                <a:cs typeface="SimSun"/>
              </a:rPr>
              <a:t>)：</a:t>
            </a:r>
            <a:r>
              <a:rPr spc="110" dirty="0" err="1"/>
              <a:t>设计代码异味与重构策略的语义模型</a:t>
            </a:r>
            <a:r>
              <a:rPr spc="-50" dirty="0"/>
              <a:t> </a:t>
            </a:r>
            <a:endParaRPr sz="2400" dirty="0">
              <a:latin typeface="Arial Unicode MS"/>
              <a:cs typeface="Arial Unicode MS"/>
            </a:endParaRPr>
          </a:p>
          <a:p>
            <a:pPr marL="607695" marR="1090295" indent="-281940">
              <a:lnSpc>
                <a:spcPct val="143500"/>
              </a:lnSpc>
              <a:spcBef>
                <a:spcPts val="690"/>
              </a:spcBef>
              <a:buAutoNum type="arabicPlain"/>
              <a:tabLst>
                <a:tab pos="648335" algn="l"/>
              </a:tabLst>
            </a:pPr>
            <a:r>
              <a:rPr sz="2400" dirty="0">
                <a:latin typeface="Arial Unicode MS"/>
                <a:cs typeface="Arial Unicode MS"/>
              </a:rPr>
              <a:t>.</a:t>
            </a:r>
            <a:r>
              <a:rPr b="1" spc="-30" dirty="0" err="1">
                <a:solidFill>
                  <a:srgbClr val="0D3057"/>
                </a:solidFill>
                <a:latin typeface="SimSun"/>
                <a:cs typeface="SimSun"/>
              </a:rPr>
              <a:t>图谱构建</a:t>
            </a:r>
            <a:r>
              <a:rPr b="1" spc="-30" dirty="0">
                <a:solidFill>
                  <a:srgbClr val="0D3057"/>
                </a:solidFill>
                <a:latin typeface="SimSun"/>
                <a:cs typeface="SimSun"/>
              </a:rPr>
              <a:t>(</a:t>
            </a:r>
            <a:r>
              <a:rPr sz="1850" b="1" spc="-10" dirty="0">
                <a:solidFill>
                  <a:srgbClr val="0D3057"/>
                </a:solidFill>
                <a:latin typeface="Arial"/>
                <a:cs typeface="Arial"/>
              </a:rPr>
              <a:t>(</a:t>
            </a:r>
            <a:r>
              <a:rPr lang="en-US" altLang="zh-CN" sz="1850" b="1" spc="-10" dirty="0">
                <a:solidFill>
                  <a:srgbClr val="0D3057"/>
                </a:solidFill>
                <a:latin typeface="Arial"/>
                <a:cs typeface="Arial"/>
              </a:rPr>
              <a:t>Construction</a:t>
            </a:r>
            <a:r>
              <a:rPr sz="1850" b="1" spc="-10" dirty="0">
                <a:solidFill>
                  <a:srgbClr val="0D3057"/>
                </a:solidFill>
                <a:latin typeface="Arial"/>
                <a:cs typeface="Arial"/>
              </a:rPr>
              <a:t>)</a:t>
            </a:r>
            <a:r>
              <a:rPr spc="-10" dirty="0">
                <a:solidFill>
                  <a:srgbClr val="0D3057"/>
                </a:solidFill>
              </a:rPr>
              <a:t>：</a:t>
            </a:r>
            <a:r>
              <a:rPr dirty="0"/>
              <a:t>利用</a:t>
            </a:r>
            <a:r>
              <a:rPr lang="en-US" altLang="zh-CN" dirty="0"/>
              <a:t>py2neo</a:t>
            </a:r>
            <a:r>
              <a:rPr lang="zh-CN" altLang="en-US" dirty="0"/>
              <a:t>组件操作</a:t>
            </a:r>
            <a:r>
              <a:rPr lang="en-US" altLang="zh-CN" dirty="0"/>
              <a:t>Neo4j</a:t>
            </a:r>
            <a:r>
              <a:rPr spc="-25" dirty="0"/>
              <a:t>,	</a:t>
            </a:r>
            <a:r>
              <a:rPr spc="-5" dirty="0"/>
              <a:t>实现数据的批量化导入与关联建立。</a:t>
            </a:r>
            <a:endParaRPr sz="2400" dirty="0">
              <a:latin typeface="Arial Unicode MS"/>
              <a:cs typeface="Arial Unicode MS"/>
            </a:endParaRPr>
          </a:p>
          <a:p>
            <a:pPr marL="607695" marR="1005205" indent="-281940">
              <a:lnSpc>
                <a:spcPct val="120200"/>
              </a:lnSpc>
              <a:spcBef>
                <a:spcPts val="1360"/>
              </a:spcBef>
              <a:buAutoNum type="arabicPlain"/>
              <a:tabLst>
                <a:tab pos="648335" algn="l"/>
              </a:tabLst>
            </a:pPr>
            <a:r>
              <a:rPr sz="2400" dirty="0">
                <a:latin typeface="Arial Unicode MS"/>
                <a:cs typeface="Arial Unicode MS"/>
              </a:rPr>
              <a:t>.</a:t>
            </a:r>
            <a:r>
              <a:rPr b="1" spc="-30" dirty="0" err="1">
                <a:solidFill>
                  <a:srgbClr val="0D3057"/>
                </a:solidFill>
                <a:latin typeface="SimSun"/>
                <a:cs typeface="SimSun"/>
              </a:rPr>
              <a:t>智能查询</a:t>
            </a:r>
            <a:r>
              <a:rPr lang="zh-CN" altLang="en-US" b="1" spc="-30" dirty="0">
                <a:solidFill>
                  <a:srgbClr val="0D3057"/>
                </a:solidFill>
                <a:latin typeface="SimSun"/>
                <a:cs typeface="SimSun"/>
              </a:rPr>
              <a:t>（</a:t>
            </a:r>
            <a:r>
              <a:rPr lang="en-US" altLang="zh-CN" b="1" spc="-30" dirty="0">
                <a:solidFill>
                  <a:srgbClr val="0D3057"/>
                </a:solidFill>
                <a:latin typeface="SimSun"/>
                <a:cs typeface="SimSun"/>
              </a:rPr>
              <a:t>Reasoning</a:t>
            </a:r>
            <a:r>
              <a:rPr lang="zh-CN" altLang="en-US" b="1" spc="-30" dirty="0">
                <a:solidFill>
                  <a:srgbClr val="0D3057"/>
                </a:solidFill>
                <a:latin typeface="SimSun"/>
                <a:cs typeface="SimSun"/>
              </a:rPr>
              <a:t>）</a:t>
            </a:r>
            <a:r>
              <a:rPr dirty="0">
                <a:solidFill>
                  <a:srgbClr val="0D3057"/>
                </a:solidFill>
              </a:rPr>
              <a:t>：</a:t>
            </a:r>
            <a:r>
              <a:rPr spc="-5" dirty="0"/>
              <a:t>编写多关键词模糊查询与基于“严	</a:t>
            </a:r>
            <a:r>
              <a:rPr dirty="0" err="1"/>
              <a:t>重等级</a:t>
            </a:r>
            <a:r>
              <a:rPr lang="zh-CN" altLang="en-US" dirty="0"/>
              <a:t>（</a:t>
            </a:r>
            <a:r>
              <a:rPr lang="en-US" altLang="zh-CN" dirty="0"/>
              <a:t>Level</a:t>
            </a:r>
            <a:r>
              <a:rPr lang="zh-CN" altLang="en-US" dirty="0"/>
              <a:t>）</a:t>
            </a:r>
            <a:r>
              <a:rPr spc="-5" dirty="0" err="1"/>
              <a:t>排序推荐算法</a:t>
            </a:r>
            <a:r>
              <a:rPr spc="-5" dirty="0"/>
              <a:t>。</a:t>
            </a:r>
            <a:endParaRPr sz="2400" dirty="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75456" y="3513371"/>
            <a:ext cx="162750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35" dirty="0">
                <a:solidFill>
                  <a:srgbClr val="0D3057"/>
                </a:solidFill>
                <a:latin typeface="SimSun"/>
                <a:cs typeface="SimSun"/>
              </a:rPr>
              <a:t>技术栈要求：</a:t>
            </a:r>
            <a:endParaRPr sz="2100">
              <a:latin typeface="SimSun"/>
              <a:cs typeface="SimSu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75456" y="6288818"/>
            <a:ext cx="6641465" cy="98679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ct val="134900"/>
              </a:lnSpc>
              <a:spcBef>
                <a:spcPts val="254"/>
              </a:spcBef>
            </a:pPr>
            <a:r>
              <a:rPr sz="2100" b="1" spc="-30" dirty="0">
                <a:solidFill>
                  <a:srgbClr val="0D3057"/>
                </a:solidFill>
                <a:latin typeface="SimSun"/>
                <a:cs typeface="SimSun"/>
              </a:rPr>
              <a:t>预期产出：</a:t>
            </a:r>
            <a:r>
              <a:rPr sz="2100" b="1" spc="-30" dirty="0">
                <a:latin typeface="SimSun"/>
                <a:cs typeface="SimSun"/>
              </a:rPr>
              <a:t>一</a:t>
            </a:r>
            <a:r>
              <a:rPr sz="2100" dirty="0">
                <a:latin typeface="SimSun"/>
                <a:cs typeface="SimSun"/>
              </a:rPr>
              <a:t>个包含</a:t>
            </a:r>
            <a:r>
              <a:rPr sz="2400" spc="-10" dirty="0">
                <a:latin typeface="Arial Unicode MS"/>
                <a:cs typeface="Arial Unicode MS"/>
              </a:rPr>
              <a:t>30</a:t>
            </a:r>
            <a:r>
              <a:rPr sz="2100" spc="-5" dirty="0">
                <a:latin typeface="SimSun"/>
                <a:cs typeface="SimSun"/>
              </a:rPr>
              <a:t>组异味-重构方案的交互式知识网</a:t>
            </a:r>
            <a:r>
              <a:rPr sz="2100" spc="-25" dirty="0">
                <a:latin typeface="SimSun"/>
                <a:cs typeface="SimSun"/>
              </a:rPr>
              <a:t>络。</a:t>
            </a:r>
            <a:endParaRPr sz="2100">
              <a:latin typeface="SimSun"/>
              <a:cs typeface="SimSun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EFFAA5-10CC-A1EF-6E4E-14981D68192F}"/>
              </a:ext>
            </a:extLst>
          </p:cNvPr>
          <p:cNvSpPr txBox="1"/>
          <p:nvPr/>
        </p:nvSpPr>
        <p:spPr>
          <a:xfrm>
            <a:off x="10675456" y="4206875"/>
            <a:ext cx="41009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Python 3.x</a:t>
            </a:r>
          </a:p>
          <a:p>
            <a:endParaRPr lang="en-US" altLang="zh-CN" dirty="0"/>
          </a:p>
          <a:p>
            <a:r>
              <a:rPr lang="en-US" altLang="zh-CN" dirty="0"/>
              <a:t>Neo4j Community Edition</a:t>
            </a:r>
          </a:p>
          <a:p>
            <a:endParaRPr lang="en-US" altLang="zh-CN" dirty="0"/>
          </a:p>
          <a:p>
            <a:r>
              <a:rPr lang="en-US" altLang="zh-CN" dirty="0"/>
              <a:t>py2neo</a:t>
            </a:r>
            <a:r>
              <a:rPr lang="zh-CN" altLang="en-US" dirty="0"/>
              <a:t>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2622" y="1417582"/>
            <a:ext cx="550580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7588" y="1496334"/>
            <a:ext cx="440464" cy="944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12437" y="1417582"/>
            <a:ext cx="566311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23714" y="1417582"/>
            <a:ext cx="1148353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82231" y="1417582"/>
            <a:ext cx="3555176" cy="5827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941909" y="1433335"/>
            <a:ext cx="597773" cy="6299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602603" y="1496334"/>
            <a:ext cx="928121" cy="4567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593649" y="1433335"/>
            <a:ext cx="1415778" cy="6457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01161" y="4284075"/>
            <a:ext cx="8636250" cy="83474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382377" y="4284075"/>
            <a:ext cx="8636250" cy="834747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4703527" y="1693204"/>
            <a:ext cx="566420" cy="0"/>
          </a:xfrm>
          <a:custGeom>
            <a:avLst/>
            <a:gdLst/>
            <a:ahLst/>
            <a:cxnLst/>
            <a:rect l="l" t="t" r="r" b="b"/>
            <a:pathLst>
              <a:path w="566420">
                <a:moveTo>
                  <a:pt x="0" y="0"/>
                </a:moveTo>
                <a:lnTo>
                  <a:pt x="566311" y="0"/>
                </a:lnTo>
              </a:path>
            </a:pathLst>
          </a:custGeom>
          <a:ln w="70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14663" y="1890079"/>
            <a:ext cx="551180" cy="0"/>
          </a:xfrm>
          <a:custGeom>
            <a:avLst/>
            <a:gdLst/>
            <a:ahLst/>
            <a:cxnLst/>
            <a:rect l="l" t="t" r="r" b="b"/>
            <a:pathLst>
              <a:path w="551180">
                <a:moveTo>
                  <a:pt x="0" y="0"/>
                </a:moveTo>
                <a:lnTo>
                  <a:pt x="550580" y="0"/>
                </a:lnTo>
              </a:path>
            </a:pathLst>
          </a:custGeom>
          <a:ln w="70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699385">
              <a:lnSpc>
                <a:spcPct val="100000"/>
              </a:lnSpc>
              <a:spcBef>
                <a:spcPts val="115"/>
              </a:spcBef>
            </a:pPr>
            <a:r>
              <a:rPr spc="260" dirty="0"/>
              <a:t>．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85111" y="3005868"/>
            <a:ext cx="17941290" cy="923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>
              <a:lnSpc>
                <a:spcPct val="130900"/>
              </a:lnSpc>
              <a:spcBef>
                <a:spcPts val="95"/>
              </a:spcBef>
            </a:pPr>
            <a:r>
              <a:rPr sz="2250" spc="85" dirty="0">
                <a:solidFill>
                  <a:srgbClr val="262A38"/>
                </a:solidFill>
                <a:latin typeface="宋体"/>
                <a:cs typeface="宋体"/>
              </a:rPr>
              <a:t>在编写任何代码之前，必须明确“图”的本体结构。我们需要分析领域语料，识别出核心实体、关系及其承载的属性，为后续存储打下逻</a:t>
            </a:r>
            <a:r>
              <a:rPr sz="2250" spc="50" dirty="0">
                <a:solidFill>
                  <a:srgbClr val="262A38"/>
                </a:solidFill>
                <a:latin typeface="宋体"/>
                <a:cs typeface="宋体"/>
              </a:rPr>
              <a:t>辑基础。</a:t>
            </a:r>
            <a:endParaRPr sz="225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81747" y="8463226"/>
            <a:ext cx="17961610" cy="10622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280"/>
              </a:spcBef>
            </a:pPr>
            <a:r>
              <a:rPr lang="zh-CN" altLang="en-US" sz="2400" b="1" spc="-30" dirty="0">
                <a:solidFill>
                  <a:srgbClr val="0D3057"/>
                </a:solidFill>
                <a:latin typeface="SimSun"/>
                <a:cs typeface="SimSun"/>
              </a:rPr>
              <a:t>建模逻辑：</a:t>
            </a:r>
            <a:r>
              <a:rPr lang="en-US" altLang="zh-CN" sz="2800" b="1" spc="-10" dirty="0">
                <a:solidFill>
                  <a:srgbClr val="0D3057"/>
                </a:solidFill>
                <a:latin typeface="Arial Unicode MS"/>
                <a:cs typeface="SimSun"/>
              </a:rPr>
              <a:t>Smells</a:t>
            </a:r>
            <a:r>
              <a:rPr lang="zh-CN" altLang="en-US" sz="2400" dirty="0">
                <a:latin typeface="SimSun"/>
                <a:cs typeface="SimSun"/>
              </a:rPr>
              <a:t>节点是“病症</a:t>
            </a:r>
            <a:r>
              <a:rPr lang="en-US" altLang="zh-CN" sz="2400" dirty="0">
                <a:latin typeface="SimSun"/>
                <a:cs typeface="SimSun"/>
              </a:rPr>
              <a:t>"</a:t>
            </a:r>
            <a:r>
              <a:rPr lang="zh-CN" altLang="en-US" sz="2400" dirty="0">
                <a:latin typeface="SimSun"/>
                <a:cs typeface="SimSun"/>
              </a:rPr>
              <a:t>，</a:t>
            </a:r>
            <a:r>
              <a:rPr lang="en-US" altLang="zh-CN" sz="2400" dirty="0">
                <a:latin typeface="SimSun"/>
                <a:cs typeface="SimSun"/>
              </a:rPr>
              <a:t>Medicine</a:t>
            </a:r>
            <a:r>
              <a:rPr lang="zh-CN" altLang="en-US" sz="2400" dirty="0">
                <a:latin typeface="SimSun"/>
                <a:cs typeface="SimSun"/>
              </a:rPr>
              <a:t>节点是“药方</a:t>
            </a:r>
            <a:r>
              <a:rPr lang="en-US" altLang="zh-CN" sz="2400" dirty="0">
                <a:latin typeface="SimSun"/>
                <a:cs typeface="SimSun"/>
              </a:rPr>
              <a:t>"</a:t>
            </a:r>
            <a:r>
              <a:rPr lang="zh-CN" altLang="en-US" sz="2400" dirty="0">
                <a:latin typeface="SimSun"/>
                <a:cs typeface="SimSun"/>
              </a:rPr>
              <a:t>，</a:t>
            </a:r>
            <a:r>
              <a:rPr lang="en-US" altLang="zh-CN" sz="2400" dirty="0">
                <a:latin typeface="SimSun"/>
                <a:cs typeface="SimSun"/>
              </a:rPr>
              <a:t>MEDICINE</a:t>
            </a:r>
            <a:r>
              <a:rPr lang="zh-CN" altLang="en-US" sz="2800" dirty="0">
                <a:latin typeface="Arial Unicode MS"/>
                <a:cs typeface="Arial Unicode MS"/>
              </a:rPr>
              <a:t>（</a:t>
            </a:r>
            <a:r>
              <a:rPr lang="zh-CN" altLang="en-US" sz="2400" dirty="0">
                <a:latin typeface="SimSun"/>
                <a:cs typeface="SimSun"/>
              </a:rPr>
              <a:t>关系则是连接病症与药方的“处方链”。属性</a:t>
            </a:r>
            <a:r>
              <a:rPr lang="en-US" altLang="zh-CN" sz="2800" dirty="0">
                <a:latin typeface="Arial Unicode MS"/>
                <a:cs typeface="SimSun"/>
              </a:rPr>
              <a:t>Level</a:t>
            </a:r>
            <a:r>
              <a:rPr lang="zh-CN" altLang="en-US" sz="2400" spc="-15" dirty="0">
                <a:latin typeface="SimSun"/>
                <a:cs typeface="SimSun"/>
              </a:rPr>
              <a:t>将作为</a:t>
            </a:r>
            <a:r>
              <a:rPr lang="zh-CN" altLang="en-US" sz="2400" spc="-5" dirty="0">
                <a:latin typeface="SimSun"/>
                <a:cs typeface="SimSun"/>
              </a:rPr>
              <a:t>后续推荐优先级的核心依据。</a:t>
            </a:r>
            <a:endParaRPr lang="zh-CN" altLang="en-US" sz="2400" dirty="0">
              <a:latin typeface="SimSun"/>
              <a:cs typeface="SimSun"/>
            </a:endParaRP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8E8AA005-1045-5345-8088-74E779916BF0}"/>
              </a:ext>
            </a:extLst>
          </p:cNvPr>
          <p:cNvSpPr txBox="1"/>
          <p:nvPr/>
        </p:nvSpPr>
        <p:spPr>
          <a:xfrm>
            <a:off x="1298778" y="5539487"/>
            <a:ext cx="217614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altLang="zh-CN" sz="1850" b="1" spc="-50" dirty="0" err="1">
                <a:solidFill>
                  <a:srgbClr val="0D3057"/>
                </a:solidFill>
                <a:latin typeface="Arial"/>
                <a:cs typeface="Arial"/>
              </a:rPr>
              <a:t>Smells</a:t>
            </a:r>
            <a:r>
              <a:rPr sz="2050" b="1" spc="-50" dirty="0" err="1">
                <a:solidFill>
                  <a:srgbClr val="0D3057"/>
                </a:solidFill>
                <a:latin typeface="SimSun"/>
                <a:cs typeface="SimSun"/>
              </a:rPr>
              <a:t>（异味</a:t>
            </a:r>
            <a:r>
              <a:rPr sz="2050" b="1" spc="-50" dirty="0">
                <a:solidFill>
                  <a:srgbClr val="0D3057"/>
                </a:solidFill>
                <a:latin typeface="SimSun"/>
                <a:cs typeface="SimSun"/>
              </a:rPr>
              <a:t>）</a:t>
            </a:r>
            <a:endParaRPr sz="2050" dirty="0">
              <a:latin typeface="SimSun"/>
              <a:cs typeface="SimSun"/>
            </a:endParaRPr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CA393CB5-7C3F-D0AF-F14A-C277A638B871}"/>
              </a:ext>
            </a:extLst>
          </p:cNvPr>
          <p:cNvSpPr txBox="1"/>
          <p:nvPr/>
        </p:nvSpPr>
        <p:spPr>
          <a:xfrm>
            <a:off x="1314484" y="6717462"/>
            <a:ext cx="237934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altLang="zh-CN" sz="1850" b="1" spc="-50" dirty="0" err="1">
                <a:solidFill>
                  <a:srgbClr val="0D3057"/>
                </a:solidFill>
                <a:latin typeface="Arial"/>
                <a:cs typeface="Arial"/>
              </a:rPr>
              <a:t>Medicine</a:t>
            </a:r>
            <a:r>
              <a:rPr sz="2050" b="1" spc="-50" dirty="0" err="1">
                <a:solidFill>
                  <a:srgbClr val="0D3057"/>
                </a:solidFill>
                <a:latin typeface="SimSun"/>
                <a:cs typeface="SimSun"/>
              </a:rPr>
              <a:t>（重构</a:t>
            </a:r>
            <a:r>
              <a:rPr sz="2050" b="1" spc="-50" dirty="0">
                <a:solidFill>
                  <a:srgbClr val="0D3057"/>
                </a:solidFill>
                <a:latin typeface="SimSun"/>
                <a:cs typeface="SimSun"/>
              </a:rPr>
              <a:t>）</a:t>
            </a:r>
            <a:endParaRPr sz="2050" dirty="0">
              <a:latin typeface="SimSun"/>
              <a:cs typeface="SimSun"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9D8EDE79-DD51-D3BF-3128-4E3650692221}"/>
              </a:ext>
            </a:extLst>
          </p:cNvPr>
          <p:cNvSpPr txBox="1"/>
          <p:nvPr/>
        </p:nvSpPr>
        <p:spPr>
          <a:xfrm>
            <a:off x="1306631" y="7738374"/>
            <a:ext cx="231394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altLang="zh-CN" sz="1850" b="1" spc="-50" dirty="0" err="1">
                <a:solidFill>
                  <a:srgbClr val="0D3057"/>
                </a:solidFill>
                <a:latin typeface="Arial"/>
                <a:cs typeface="Arial"/>
              </a:rPr>
              <a:t>Directory</a:t>
            </a:r>
            <a:r>
              <a:rPr sz="2050" b="1" spc="-50" dirty="0" err="1">
                <a:solidFill>
                  <a:srgbClr val="0D3057"/>
                </a:solidFill>
                <a:latin typeface="SimSun"/>
                <a:cs typeface="SimSun"/>
              </a:rPr>
              <a:t>（目录</a:t>
            </a:r>
            <a:r>
              <a:rPr sz="2050" b="1" spc="-50" dirty="0">
                <a:solidFill>
                  <a:srgbClr val="0D3057"/>
                </a:solidFill>
                <a:latin typeface="SimSun"/>
                <a:cs typeface="SimSun"/>
              </a:rPr>
              <a:t>）</a:t>
            </a:r>
            <a:endParaRPr sz="2050" dirty="0">
              <a:latin typeface="SimSun"/>
              <a:cs typeface="SimSun"/>
            </a:endParaRPr>
          </a:p>
        </p:txBody>
      </p:sp>
      <p:sp>
        <p:nvSpPr>
          <p:cNvPr id="30" name="object 10">
            <a:extLst>
              <a:ext uri="{FF2B5EF4-FFF2-40B4-BE49-F238E27FC236}">
                <a16:creationId xmlns:a16="http://schemas.microsoft.com/office/drawing/2014/main" id="{2979BB7D-6356-5FB5-A2CD-F38AAED0B2DA}"/>
              </a:ext>
            </a:extLst>
          </p:cNvPr>
          <p:cNvSpPr txBox="1"/>
          <p:nvPr/>
        </p:nvSpPr>
        <p:spPr>
          <a:xfrm>
            <a:off x="5044737" y="5269338"/>
            <a:ext cx="2654935" cy="81089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lang="en-US" altLang="zh-CN" spc="-20" dirty="0" err="1">
                <a:latin typeface="Arial Unicode MS"/>
                <a:cs typeface="Arial Unicode MS"/>
              </a:rPr>
              <a:t>name</a:t>
            </a:r>
            <a:r>
              <a:rPr sz="1800" spc="-20" dirty="0" err="1">
                <a:latin typeface="Arial Unicode MS"/>
                <a:cs typeface="Arial Unicode MS"/>
              </a:rPr>
              <a:t>：</a:t>
            </a:r>
            <a:r>
              <a:rPr sz="2050" spc="-40" dirty="0" err="1">
                <a:latin typeface="SimSun"/>
                <a:cs typeface="SimSun"/>
              </a:rPr>
              <a:t>名称</a:t>
            </a:r>
            <a:endParaRPr sz="2050" dirty="0">
              <a:latin typeface="SimSun"/>
              <a:cs typeface="SimSun"/>
            </a:endParaRPr>
          </a:p>
          <a:p>
            <a:pPr marL="20320">
              <a:lnSpc>
                <a:spcPct val="100000"/>
              </a:lnSpc>
              <a:spcBef>
                <a:spcPts val="635"/>
              </a:spcBef>
            </a:pPr>
            <a:r>
              <a:rPr lang="en-US" altLang="zh-CN" sz="2050" spc="-30" dirty="0">
                <a:latin typeface="SimSun"/>
                <a:cs typeface="SimSun"/>
              </a:rPr>
              <a:t>level</a:t>
            </a:r>
            <a:r>
              <a:rPr sz="2050" spc="-30" dirty="0">
                <a:latin typeface="SimSun"/>
                <a:cs typeface="SimSun"/>
              </a:rPr>
              <a:t>:严重等级</a:t>
            </a:r>
            <a:r>
              <a:rPr sz="1800" spc="-20" dirty="0">
                <a:latin typeface="Arial Unicode MS"/>
                <a:cs typeface="Arial Unicode MS"/>
              </a:rPr>
              <a:t>（1-</a:t>
            </a:r>
            <a:r>
              <a:rPr sz="1800" spc="-25" dirty="0">
                <a:latin typeface="Arial Unicode MS"/>
                <a:cs typeface="Arial Unicode MS"/>
              </a:rPr>
              <a:t>5）</a:t>
            </a:r>
            <a:endParaRPr sz="1800" dirty="0">
              <a:latin typeface="Arial Unicode MS"/>
              <a:cs typeface="Arial Unicode MS"/>
            </a:endParaRPr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960EB2EF-E476-E432-4043-F352F9532418}"/>
              </a:ext>
            </a:extLst>
          </p:cNvPr>
          <p:cNvSpPr txBox="1"/>
          <p:nvPr/>
        </p:nvSpPr>
        <p:spPr>
          <a:xfrm>
            <a:off x="5036884" y="6463020"/>
            <a:ext cx="2948940" cy="79502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670"/>
              </a:spcBef>
            </a:pPr>
            <a:r>
              <a:rPr lang="en-US" altLang="zh-CN" sz="1800" spc="-20" dirty="0" err="1">
                <a:latin typeface="Arial Unicode MS"/>
                <a:cs typeface="Arial Unicode MS"/>
              </a:rPr>
              <a:t>name</a:t>
            </a:r>
            <a:r>
              <a:rPr sz="1800" spc="-20" dirty="0" err="1">
                <a:latin typeface="Arial Unicode MS"/>
                <a:cs typeface="Arial Unicode MS"/>
              </a:rPr>
              <a:t>：</a:t>
            </a:r>
            <a:r>
              <a:rPr sz="2050" spc="-35" dirty="0" err="1">
                <a:latin typeface="SimSun"/>
                <a:cs typeface="SimSun"/>
              </a:rPr>
              <a:t>策略名称</a:t>
            </a:r>
            <a:endParaRPr sz="2050" dirty="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lang="en-US" altLang="zh-CN" spc="-20" dirty="0" err="1">
                <a:latin typeface="Arial Unicode MS"/>
                <a:cs typeface="Arial Unicode MS"/>
              </a:rPr>
              <a:t>solution</a:t>
            </a:r>
            <a:r>
              <a:rPr sz="1800" spc="-20" dirty="0" err="1">
                <a:latin typeface="Arial Unicode MS"/>
                <a:cs typeface="Arial Unicode MS"/>
              </a:rPr>
              <a:t>：</a:t>
            </a:r>
            <a:r>
              <a:rPr sz="2050" spc="-35" dirty="0" err="1">
                <a:latin typeface="SimSun"/>
                <a:cs typeface="SimSun"/>
              </a:rPr>
              <a:t>具体实施步骤</a:t>
            </a:r>
            <a:endParaRPr sz="2050" dirty="0">
              <a:latin typeface="SimSun"/>
              <a:cs typeface="SimSun"/>
            </a:endParaRPr>
          </a:p>
        </p:txBody>
      </p:sp>
      <p:sp>
        <p:nvSpPr>
          <p:cNvPr id="32" name="object 12">
            <a:extLst>
              <a:ext uri="{FF2B5EF4-FFF2-40B4-BE49-F238E27FC236}">
                <a16:creationId xmlns:a16="http://schemas.microsoft.com/office/drawing/2014/main" id="{7E5AA02A-41F5-8788-0251-229C60B42DE3}"/>
              </a:ext>
            </a:extLst>
          </p:cNvPr>
          <p:cNvSpPr txBox="1"/>
          <p:nvPr/>
        </p:nvSpPr>
        <p:spPr>
          <a:xfrm>
            <a:off x="5044737" y="7722667"/>
            <a:ext cx="218249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altLang="zh-CN" spc="-20" dirty="0" err="1">
                <a:latin typeface="Arial Unicode MS"/>
                <a:cs typeface="Arial Unicode MS"/>
              </a:rPr>
              <a:t>name</a:t>
            </a:r>
            <a:r>
              <a:rPr sz="1800" spc="-20" dirty="0" err="1">
                <a:latin typeface="Arial Unicode MS"/>
                <a:cs typeface="Arial Unicode MS"/>
              </a:rPr>
              <a:t>：</a:t>
            </a:r>
            <a:r>
              <a:rPr sz="2050" spc="-35" dirty="0" err="1">
                <a:latin typeface="SimSun"/>
                <a:cs typeface="SimSun"/>
              </a:rPr>
              <a:t>根节点名称</a:t>
            </a:r>
            <a:endParaRPr sz="2050" dirty="0">
              <a:latin typeface="SimSun"/>
              <a:cs typeface="SimSun"/>
            </a:endParaRPr>
          </a:p>
        </p:txBody>
      </p:sp>
      <p:sp>
        <p:nvSpPr>
          <p:cNvPr id="33" name="object 14">
            <a:extLst>
              <a:ext uri="{FF2B5EF4-FFF2-40B4-BE49-F238E27FC236}">
                <a16:creationId xmlns:a16="http://schemas.microsoft.com/office/drawing/2014/main" id="{4CC1F49D-8AC4-5CBD-9FC5-DA841380FDE9}"/>
              </a:ext>
            </a:extLst>
          </p:cNvPr>
          <p:cNvSpPr txBox="1"/>
          <p:nvPr/>
        </p:nvSpPr>
        <p:spPr>
          <a:xfrm>
            <a:off x="10573365" y="6741021"/>
            <a:ext cx="147320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850" dirty="0" err="1">
                <a:latin typeface="Arial"/>
                <a:cs typeface="Arial"/>
              </a:rPr>
              <a:t>has_smell</a:t>
            </a:r>
            <a:endParaRPr sz="1850" dirty="0">
              <a:latin typeface="Arial"/>
              <a:cs typeface="Arial"/>
            </a:endParaRPr>
          </a:p>
        </p:txBody>
      </p:sp>
      <p:sp>
        <p:nvSpPr>
          <p:cNvPr id="34" name="object 16">
            <a:extLst>
              <a:ext uri="{FF2B5EF4-FFF2-40B4-BE49-F238E27FC236}">
                <a16:creationId xmlns:a16="http://schemas.microsoft.com/office/drawing/2014/main" id="{DED439BC-EA61-B386-515C-161A745E2D0A}"/>
              </a:ext>
            </a:extLst>
          </p:cNvPr>
          <p:cNvSpPr txBox="1"/>
          <p:nvPr/>
        </p:nvSpPr>
        <p:spPr>
          <a:xfrm>
            <a:off x="13918812" y="5316457"/>
            <a:ext cx="3135630" cy="638636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lang="en-US" spc="-35" dirty="0">
                <a:latin typeface="Arial Unicode MS"/>
                <a:cs typeface="SimSun"/>
              </a:rPr>
              <a:t>Smells-&gt;Medicine</a:t>
            </a:r>
            <a:br>
              <a:rPr lang="en-US" spc="-35" dirty="0">
                <a:latin typeface="Arial Unicode MS"/>
                <a:cs typeface="SimSun"/>
              </a:rPr>
            </a:br>
            <a:r>
              <a:rPr sz="2050" spc="-35" dirty="0" err="1">
                <a:latin typeface="SimSun"/>
                <a:cs typeface="SimSun"/>
              </a:rPr>
              <a:t>表示该异味的对应重构方案</a:t>
            </a:r>
            <a:endParaRPr sz="2050" dirty="0">
              <a:latin typeface="SimSun"/>
              <a:cs typeface="SimSun"/>
            </a:endParaRPr>
          </a:p>
        </p:txBody>
      </p:sp>
      <p:sp>
        <p:nvSpPr>
          <p:cNvPr id="35" name="object 17">
            <a:extLst>
              <a:ext uri="{FF2B5EF4-FFF2-40B4-BE49-F238E27FC236}">
                <a16:creationId xmlns:a16="http://schemas.microsoft.com/office/drawing/2014/main" id="{A930826A-DECB-0C60-18E3-14235E06BCF9}"/>
              </a:ext>
            </a:extLst>
          </p:cNvPr>
          <p:cNvSpPr txBox="1"/>
          <p:nvPr/>
        </p:nvSpPr>
        <p:spPr>
          <a:xfrm>
            <a:off x="13918812" y="6937350"/>
            <a:ext cx="3372238" cy="6424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50" spc="-35" dirty="0">
                <a:latin typeface="SimSun"/>
                <a:cs typeface="SimSun"/>
              </a:rPr>
              <a:t>Directory-&gt;Smells</a:t>
            </a:r>
            <a:br>
              <a:rPr lang="en-US" sz="2050" spc="-35" dirty="0">
                <a:latin typeface="SimSun"/>
                <a:cs typeface="SimSun"/>
              </a:rPr>
            </a:br>
            <a:r>
              <a:rPr sz="2050" spc="-35" dirty="0" err="1">
                <a:latin typeface="SimSun"/>
                <a:cs typeface="SimSun"/>
              </a:rPr>
              <a:t>表示层级隶属关系</a:t>
            </a:r>
            <a:endParaRPr sz="2050" dirty="0">
              <a:latin typeface="SimSun"/>
              <a:cs typeface="SimSun"/>
            </a:endParaRPr>
          </a:p>
        </p:txBody>
      </p:sp>
      <p:sp>
        <p:nvSpPr>
          <p:cNvPr id="36" name="object 19">
            <a:extLst>
              <a:ext uri="{FF2B5EF4-FFF2-40B4-BE49-F238E27FC236}">
                <a16:creationId xmlns:a16="http://schemas.microsoft.com/office/drawing/2014/main" id="{DEEEEB0F-2619-07CC-7EF3-6441C0339924}"/>
              </a:ext>
            </a:extLst>
          </p:cNvPr>
          <p:cNvSpPr txBox="1"/>
          <p:nvPr/>
        </p:nvSpPr>
        <p:spPr>
          <a:xfrm>
            <a:off x="10573365" y="5539487"/>
            <a:ext cx="123126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altLang="zh-CN" sz="1850" b="1" spc="-10" dirty="0">
                <a:solidFill>
                  <a:srgbClr val="0D3057"/>
                </a:solidFill>
                <a:latin typeface="Arial"/>
                <a:cs typeface="Arial"/>
              </a:rPr>
              <a:t>MEDICINE</a:t>
            </a:r>
            <a:endParaRPr sz="1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1534" y="8599215"/>
            <a:ext cx="8450004" cy="23795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02449" y="1447989"/>
            <a:ext cx="7831455" cy="694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-50" dirty="0">
                <a:latin typeface="SimSun"/>
                <a:cs typeface="SimSun"/>
              </a:rPr>
              <a:t>领域语料分析：从文本到三元组</a:t>
            </a:r>
            <a:endParaRPr sz="4400" dirty="0">
              <a:latin typeface="SimSun"/>
              <a:cs typeface="SimSu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4596" y="2963465"/>
            <a:ext cx="15764510" cy="1086003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7620">
              <a:lnSpc>
                <a:spcPct val="141400"/>
              </a:lnSpc>
              <a:spcBef>
                <a:spcPts val="280"/>
              </a:spcBef>
            </a:pPr>
            <a:r>
              <a:rPr sz="2400" dirty="0">
                <a:latin typeface="SimSun"/>
                <a:cs typeface="SimSun"/>
              </a:rPr>
              <a:t>实验提供了一份包含</a:t>
            </a:r>
            <a:r>
              <a:rPr sz="2800" spc="-10" dirty="0">
                <a:latin typeface="Arial Unicode MS"/>
                <a:cs typeface="Arial Unicode MS"/>
              </a:rPr>
              <a:t>30</a:t>
            </a:r>
            <a:r>
              <a:rPr sz="2400" dirty="0">
                <a:latin typeface="SimSun"/>
                <a:cs typeface="SimSun"/>
              </a:rPr>
              <a:t>对常见异味的数据集。学生需要从中抽取出节点和关系，将其转化为（您坊式七所“找计匕</a:t>
            </a:r>
            <a:r>
              <a:rPr sz="2800" dirty="0">
                <a:latin typeface="Arial Unicode MS"/>
                <a:cs typeface="Arial Unicode MS"/>
              </a:rPr>
              <a:t>0</a:t>
            </a:r>
            <a:r>
              <a:rPr sz="2400" spc="-10" dirty="0">
                <a:latin typeface="SimSun"/>
                <a:cs typeface="SimSun"/>
              </a:rPr>
              <a:t>昉叱匕形式的三元</a:t>
            </a:r>
            <a:r>
              <a:rPr sz="2400" spc="-25" dirty="0">
                <a:latin typeface="SimSun"/>
                <a:cs typeface="SimSun"/>
              </a:rPr>
              <a:t>组。</a:t>
            </a:r>
            <a:endParaRPr sz="2400" dirty="0">
              <a:latin typeface="SimSun"/>
              <a:cs typeface="SimSu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33496" y="4612814"/>
            <a:ext cx="1888489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spc="35" dirty="0">
                <a:solidFill>
                  <a:srgbClr val="FFFFFF"/>
                </a:solidFill>
                <a:latin typeface="SimSun"/>
                <a:cs typeface="SimSun"/>
              </a:rPr>
              <a:t>重构方案 </a:t>
            </a:r>
            <a:r>
              <a:rPr sz="1850" b="1" spc="-1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sz="2050" b="1" spc="-50" dirty="0">
                <a:solidFill>
                  <a:srgbClr val="FFFFFF"/>
                </a:solidFill>
                <a:latin typeface="SimSun"/>
                <a:cs typeface="SimSun"/>
              </a:rPr>
              <a:t>眺出</a:t>
            </a:r>
            <a:endParaRPr sz="2050">
              <a:latin typeface="SimSun"/>
              <a:cs typeface="SimSu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353476" y="9393820"/>
            <a:ext cx="8640445" cy="12493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95"/>
              </a:lnSpc>
              <a:spcBef>
                <a:spcPts val="120"/>
              </a:spcBef>
            </a:pPr>
            <a:r>
              <a:rPr sz="2400" b="1" dirty="0" err="1">
                <a:solidFill>
                  <a:srgbClr val="0D3057"/>
                </a:solidFill>
                <a:latin typeface="SimSun"/>
                <a:cs typeface="SimSun"/>
              </a:rPr>
              <a:t>抽取要点</a:t>
            </a:r>
            <a:r>
              <a:rPr sz="2400" b="1" dirty="0">
                <a:solidFill>
                  <a:srgbClr val="0D3057"/>
                </a:solidFill>
                <a:latin typeface="SimSun"/>
                <a:cs typeface="SimSun"/>
              </a:rPr>
              <a:t>：</a:t>
            </a:r>
            <a:r>
              <a:rPr lang="zh-CN" altLang="en-US" sz="2400" spc="100" dirty="0">
                <a:solidFill>
                  <a:srgbClr val="232836"/>
                </a:solidFill>
                <a:latin typeface="宋体"/>
              </a:rPr>
              <a:t>异味名称通常为名词短语（如</a:t>
            </a:r>
            <a:r>
              <a:rPr lang="en-US" altLang="zh-CN" sz="2400" b="1" spc="100" dirty="0">
                <a:solidFill>
                  <a:srgbClr val="232836"/>
                </a:solidFill>
                <a:latin typeface="宋体"/>
              </a:rPr>
              <a:t>Inefficient SQL</a:t>
            </a:r>
            <a:r>
              <a:rPr lang="en-US" altLang="zh-CN" sz="2400" spc="100" dirty="0">
                <a:solidFill>
                  <a:srgbClr val="232836"/>
                </a:solidFill>
                <a:latin typeface="宋体"/>
              </a:rPr>
              <a:t>)</a:t>
            </a:r>
          </a:p>
          <a:p>
            <a:pPr marL="15875">
              <a:lnSpc>
                <a:spcPts val="3654"/>
              </a:lnSpc>
            </a:pPr>
            <a:r>
              <a:rPr lang="zh-CN" altLang="en-US" sz="2400" spc="100" dirty="0">
                <a:solidFill>
                  <a:srgbClr val="232836"/>
                </a:solidFill>
                <a:latin typeface="宋体"/>
              </a:rPr>
              <a:t>构方案通常为动宾短语（如</a:t>
            </a:r>
            <a:r>
              <a:rPr lang="en-US" altLang="zh-CN" sz="2400" b="1" spc="100" dirty="0">
                <a:solidFill>
                  <a:srgbClr val="232836"/>
                </a:solidFill>
                <a:latin typeface="宋体"/>
              </a:rPr>
              <a:t>Use JSON query</a:t>
            </a:r>
            <a:r>
              <a:rPr lang="en-US" altLang="zh-CN" sz="2400" spc="100" dirty="0">
                <a:solidFill>
                  <a:srgbClr val="232836"/>
                </a:solidFill>
                <a:latin typeface="宋体"/>
              </a:rPr>
              <a:t>)</a:t>
            </a:r>
            <a:r>
              <a:rPr lang="zh-CN" altLang="en-US" sz="2400" spc="100" dirty="0">
                <a:solidFill>
                  <a:srgbClr val="232836"/>
                </a:solidFill>
                <a:latin typeface="宋体"/>
              </a:rPr>
              <a:t>。</a:t>
            </a:r>
            <a:endParaRPr lang="en-US" altLang="zh-CN" sz="2400" spc="100" dirty="0">
              <a:solidFill>
                <a:srgbClr val="232836"/>
              </a:solidFill>
              <a:latin typeface="宋体"/>
            </a:endParaRPr>
          </a:p>
          <a:p>
            <a:pPr marL="20320" marR="5080" indent="-8255">
              <a:lnSpc>
                <a:spcPct val="115900"/>
              </a:lnSpc>
              <a:spcBef>
                <a:spcPts val="95"/>
              </a:spcBef>
            </a:pPr>
            <a:endParaRPr sz="2100" dirty="0">
              <a:latin typeface="SimSun"/>
              <a:cs typeface="SimSun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049FFC-DAEB-4D54-CABF-12BD18C6D864}"/>
              </a:ext>
            </a:extLst>
          </p:cNvPr>
          <p:cNvSpPr txBox="1"/>
          <p:nvPr/>
        </p:nvSpPr>
        <p:spPr>
          <a:xfrm>
            <a:off x="1201534" y="4435475"/>
            <a:ext cx="186803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latin typeface="+mj-ea"/>
                <a:ea typeface="+mj-ea"/>
              </a:rPr>
              <a:t>代码异味（</a:t>
            </a:r>
            <a:r>
              <a:rPr lang="en-US" altLang="zh-CN" sz="4400" dirty="0">
                <a:latin typeface="+mj-ea"/>
                <a:ea typeface="+mj-ea"/>
              </a:rPr>
              <a:t>code smells</a:t>
            </a:r>
            <a:r>
              <a:rPr lang="zh-CN" altLang="en-US" sz="4400" dirty="0">
                <a:latin typeface="+mj-ea"/>
                <a:ea typeface="+mj-ea"/>
              </a:rPr>
              <a:t>）   三元组关系       重构方案</a:t>
            </a:r>
            <a:br>
              <a:rPr lang="en-US" altLang="zh-CN" sz="4400" dirty="0">
                <a:latin typeface="+mj-ea"/>
                <a:ea typeface="+mj-ea"/>
              </a:rPr>
            </a:br>
            <a:r>
              <a:rPr lang="en-US" altLang="zh-CN" sz="4000" b="1" dirty="0">
                <a:latin typeface="+mj-ea"/>
                <a:ea typeface="+mj-ea"/>
              </a:rPr>
              <a:t>inefficient SQL query</a:t>
            </a:r>
            <a:r>
              <a:rPr lang="en-US" altLang="zh-CN" sz="4400" dirty="0">
                <a:latin typeface="+mj-ea"/>
                <a:ea typeface="+mj-ea"/>
              </a:rPr>
              <a:t>			HAS_MEDICINE		</a:t>
            </a:r>
            <a:r>
              <a:rPr lang="en-US" altLang="zh-CN" sz="4000" b="1" dirty="0">
                <a:latin typeface="+mj-ea"/>
                <a:ea typeface="+mj-ea"/>
              </a:rPr>
              <a:t>Use JSON query</a:t>
            </a:r>
            <a:endParaRPr lang="en-US" altLang="zh-CN" sz="4400" b="1" dirty="0">
              <a:latin typeface="+mj-ea"/>
              <a:ea typeface="+mj-ea"/>
            </a:endParaRPr>
          </a:p>
          <a:p>
            <a:r>
              <a:rPr lang="en-US" altLang="zh-CN" sz="4000" b="1" dirty="0">
                <a:latin typeface="+mj-ea"/>
                <a:ea typeface="+mj-ea"/>
              </a:rPr>
              <a:t>Leaking thread	</a:t>
            </a:r>
            <a:r>
              <a:rPr lang="en-US" altLang="zh-CN" sz="4400" dirty="0">
                <a:latin typeface="+mj-ea"/>
                <a:ea typeface="+mj-ea"/>
              </a:rPr>
              <a:t>				HAS_MEDICINE		</a:t>
            </a:r>
            <a:r>
              <a:rPr lang="en-US" altLang="zh-CN" sz="4000" b="1" spc="-25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In</a:t>
            </a:r>
            <a:r>
              <a:rPr lang="en-US" altLang="zh-CN" sz="4000" b="1" spc="-25" dirty="0">
                <a:solidFill>
                  <a:srgbClr val="232836"/>
                </a:solidFill>
                <a:latin typeface="+mj-ea"/>
                <a:ea typeface="+mj-ea"/>
                <a:cs typeface="宋体"/>
              </a:rPr>
              <a:t>t</a:t>
            </a:r>
            <a:r>
              <a:rPr lang="en-US" altLang="zh-CN" sz="4000" b="1" spc="-25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roduce</a:t>
            </a:r>
            <a:r>
              <a:rPr lang="en-US" altLang="zh-CN" sz="4000" b="1" spc="-229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 </a:t>
            </a:r>
            <a:r>
              <a:rPr lang="en-US" altLang="zh-CN" sz="4000" b="1" spc="-80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Run</a:t>
            </a:r>
            <a:r>
              <a:rPr lang="en-US" altLang="zh-CN" sz="4000" b="1" spc="-145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 </a:t>
            </a:r>
            <a:r>
              <a:rPr lang="en-US" altLang="zh-CN" sz="4000" b="1" spc="-65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Check</a:t>
            </a:r>
            <a:r>
              <a:rPr lang="en-US" altLang="zh-CN" sz="4000" b="1" spc="-30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 </a:t>
            </a:r>
            <a:r>
              <a:rPr lang="en-US" altLang="zh-CN" sz="4000" b="1" spc="-25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Member-I</a:t>
            </a:r>
            <a:r>
              <a:rPr lang="en-US" altLang="zh-CN" sz="4000" b="1" spc="-25" dirty="0">
                <a:solidFill>
                  <a:srgbClr val="232836"/>
                </a:solidFill>
                <a:latin typeface="+mj-ea"/>
                <a:ea typeface="+mj-ea"/>
                <a:cs typeface="宋体"/>
              </a:rPr>
              <a:t>g</a:t>
            </a:r>
            <a:r>
              <a:rPr lang="en-US" altLang="zh-CN" sz="4000" b="1" spc="-25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nor</a:t>
            </a:r>
            <a:r>
              <a:rPr lang="en-US" altLang="zh-CN" sz="4000" b="1" spc="-25" dirty="0">
                <a:solidFill>
                  <a:srgbClr val="232836"/>
                </a:solidFill>
                <a:latin typeface="+mj-ea"/>
                <a:ea typeface="+mj-ea"/>
                <a:cs typeface="宋体"/>
              </a:rPr>
              <a:t>i</a:t>
            </a:r>
            <a:r>
              <a:rPr lang="en-US" altLang="zh-CN" sz="4000" b="1" spc="-25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n</a:t>
            </a:r>
            <a:r>
              <a:rPr lang="en-US" altLang="zh-CN" sz="4000" b="1" spc="-25" dirty="0">
                <a:solidFill>
                  <a:srgbClr val="232836"/>
                </a:solidFill>
                <a:latin typeface="+mj-ea"/>
                <a:ea typeface="+mj-ea"/>
                <a:cs typeface="宋体"/>
              </a:rPr>
              <a:t>g</a:t>
            </a:r>
            <a:r>
              <a:rPr lang="en-US" altLang="zh-CN" sz="4000" b="1" spc="-1070" dirty="0">
                <a:solidFill>
                  <a:srgbClr val="232836"/>
                </a:solidFill>
                <a:latin typeface="+mj-ea"/>
                <a:ea typeface="+mj-ea"/>
                <a:cs typeface="宋体"/>
              </a:rPr>
              <a:t> </a:t>
            </a:r>
            <a:r>
              <a:rPr lang="en-US" altLang="zh-CN" sz="4000" b="1" spc="-95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Me</a:t>
            </a:r>
            <a:r>
              <a:rPr lang="en-US" altLang="zh-CN" sz="4000" b="1" spc="-95" dirty="0">
                <a:solidFill>
                  <a:srgbClr val="232836"/>
                </a:solidFill>
                <a:latin typeface="+mj-ea"/>
                <a:ea typeface="+mj-ea"/>
                <a:cs typeface="宋体"/>
              </a:rPr>
              <a:t>t</a:t>
            </a:r>
            <a:r>
              <a:rPr lang="en-US" altLang="zh-CN" sz="4000" b="1" spc="-95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hod</a:t>
            </a:r>
            <a:r>
              <a:rPr lang="en-US" altLang="zh-CN" sz="4400" spc="-95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			</a:t>
            </a:r>
            <a:r>
              <a:rPr lang="en-US" altLang="zh-CN" sz="4400" dirty="0">
                <a:latin typeface="+mj-ea"/>
                <a:ea typeface="+mj-ea"/>
              </a:rPr>
              <a:t>HAS_MEDICINE		</a:t>
            </a:r>
            <a:r>
              <a:rPr lang="en-US" altLang="zh-CN" sz="4000" b="1" spc="-25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In</a:t>
            </a:r>
            <a:r>
              <a:rPr lang="en-US" altLang="zh-CN" sz="4000" b="1" spc="-25" dirty="0">
                <a:solidFill>
                  <a:srgbClr val="232836"/>
                </a:solidFill>
                <a:latin typeface="+mj-ea"/>
                <a:ea typeface="+mj-ea"/>
                <a:cs typeface="宋体"/>
              </a:rPr>
              <a:t>t</a:t>
            </a:r>
            <a:r>
              <a:rPr lang="en-US" altLang="zh-CN" sz="4000" b="1" spc="-25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roduce</a:t>
            </a:r>
            <a:r>
              <a:rPr lang="en-US" altLang="zh-CN" sz="4000" b="1" spc="-280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 </a:t>
            </a:r>
            <a:r>
              <a:rPr lang="en-US" altLang="zh-CN" sz="4000" b="1" spc="-300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S</a:t>
            </a:r>
            <a:r>
              <a:rPr lang="en-US" altLang="zh-CN" sz="4000" b="1" spc="-300" dirty="0">
                <a:solidFill>
                  <a:srgbClr val="232836"/>
                </a:solidFill>
                <a:latin typeface="+mj-ea"/>
                <a:ea typeface="+mj-ea"/>
                <a:cs typeface="宋体"/>
              </a:rPr>
              <a:t>t</a:t>
            </a:r>
            <a:r>
              <a:rPr lang="en-US" altLang="zh-CN" sz="4000" b="1" spc="-300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a</a:t>
            </a:r>
            <a:r>
              <a:rPr lang="en-US" altLang="zh-CN" sz="4000" b="1" spc="-300" dirty="0">
                <a:solidFill>
                  <a:srgbClr val="232836"/>
                </a:solidFill>
                <a:latin typeface="+mj-ea"/>
                <a:ea typeface="+mj-ea"/>
                <a:cs typeface="宋体"/>
              </a:rPr>
              <a:t>ti</a:t>
            </a:r>
            <a:r>
              <a:rPr lang="en-US" altLang="zh-CN" sz="4000" b="1" spc="-300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c</a:t>
            </a:r>
            <a:r>
              <a:rPr lang="en-US" altLang="zh-CN" sz="4000" b="1" spc="-90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 </a:t>
            </a:r>
            <a:r>
              <a:rPr lang="en-US" altLang="zh-CN" sz="4000" b="1" spc="-100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Me</a:t>
            </a:r>
            <a:r>
              <a:rPr lang="en-US" altLang="zh-CN" sz="4000" b="1" spc="-100" dirty="0">
                <a:solidFill>
                  <a:srgbClr val="232836"/>
                </a:solidFill>
                <a:latin typeface="+mj-ea"/>
                <a:ea typeface="+mj-ea"/>
                <a:cs typeface="宋体"/>
              </a:rPr>
              <a:t>t</a:t>
            </a:r>
            <a:r>
              <a:rPr lang="en-US" altLang="zh-CN" sz="4000" b="1" spc="-100" dirty="0">
                <a:solidFill>
                  <a:srgbClr val="232836"/>
                </a:solidFill>
                <a:latin typeface="+mj-ea"/>
                <a:ea typeface="+mj-ea"/>
                <a:cs typeface="Arial"/>
              </a:rPr>
              <a:t>hod</a:t>
            </a:r>
            <a:endParaRPr lang="en-US" altLang="zh-CN" sz="4400" b="1" dirty="0">
              <a:latin typeface="+mj-ea"/>
              <a:ea typeface="+mj-ea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15849" y="1417582"/>
            <a:ext cx="1738261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17034" y="1417582"/>
            <a:ext cx="534849" cy="56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14806" y="1417582"/>
            <a:ext cx="4137218" cy="58274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312436" y="1890079"/>
            <a:ext cx="551180" cy="0"/>
          </a:xfrm>
          <a:custGeom>
            <a:avLst/>
            <a:gdLst/>
            <a:ahLst/>
            <a:cxnLst/>
            <a:rect l="l" t="t" r="r" b="b"/>
            <a:pathLst>
              <a:path w="551180">
                <a:moveTo>
                  <a:pt x="0" y="0"/>
                </a:moveTo>
                <a:lnTo>
                  <a:pt x="550580" y="0"/>
                </a:lnTo>
              </a:path>
            </a:pathLst>
          </a:custGeom>
          <a:ln w="70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450" dirty="0">
                <a:latin typeface="Times New Roman"/>
                <a:cs typeface="Times New Roman"/>
              </a:rPr>
              <a:t>1</a:t>
            </a:r>
            <a:r>
              <a:rPr spc="35" dirty="0"/>
              <a:t>．</a:t>
            </a:r>
            <a:r>
              <a:rPr b="1" spc="35" dirty="0"/>
              <a:t>环境驱动与连接</a:t>
            </a:r>
            <a:endParaRPr sz="3450" b="1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8045" y="3504639"/>
            <a:ext cx="8682355" cy="1315617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5715" algn="just">
              <a:lnSpc>
                <a:spcPct val="128200"/>
              </a:lnSpc>
              <a:spcBef>
                <a:spcPts val="155"/>
              </a:spcBef>
            </a:pPr>
            <a:r>
              <a:rPr sz="2300" spc="185" dirty="0">
                <a:solidFill>
                  <a:srgbClr val="232836"/>
                </a:solidFill>
                <a:latin typeface="宋体"/>
              </a:rPr>
              <a:t>利用py2neo库，我们可以将Python程序与Neo4j数据库服务进行对接。Bolt协议（通常端口为7687)提供了高效的数据传输保障。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363363" y="2818443"/>
            <a:ext cx="8675370" cy="153247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90"/>
              </a:spcBef>
            </a:pPr>
            <a:r>
              <a:rPr sz="3200" spc="50" dirty="0">
                <a:solidFill>
                  <a:srgbClr val="DD7E26"/>
                </a:solidFill>
                <a:latin typeface="Arial"/>
                <a:cs typeface="Arial"/>
              </a:rPr>
              <a:t>2</a:t>
            </a:r>
            <a:r>
              <a:rPr sz="2950" spc="55" dirty="0">
                <a:solidFill>
                  <a:srgbClr val="DD7E26"/>
                </a:solidFill>
                <a:latin typeface="宋体"/>
                <a:cs typeface="宋体"/>
              </a:rPr>
              <a:t>．</a:t>
            </a:r>
            <a:r>
              <a:rPr sz="2950" b="1" spc="55" dirty="0">
                <a:solidFill>
                  <a:srgbClr val="DD7E26"/>
                </a:solidFill>
                <a:latin typeface="宋体"/>
                <a:cs typeface="宋体"/>
              </a:rPr>
              <a:t>节点与关系的实例化</a:t>
            </a:r>
            <a:endParaRPr sz="2950" b="1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315"/>
              </a:spcBef>
            </a:pPr>
            <a:r>
              <a:rPr sz="2300" spc="85" dirty="0">
                <a:solidFill>
                  <a:srgbClr val="232836"/>
                </a:solidFill>
                <a:latin typeface="宋体"/>
              </a:rPr>
              <a:t>在py2neo中，所有图元素都是对象。我们通过构造函数Node定</a:t>
            </a: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2300" spc="85" dirty="0">
                <a:solidFill>
                  <a:srgbClr val="232836"/>
                </a:solidFill>
                <a:latin typeface="宋体"/>
              </a:rPr>
              <a:t>义实体的标签（Label)和属性(Attributes)。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1059679" y="7346554"/>
            <a:ext cx="7659473" cy="32252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50" dirty="0">
                <a:solidFill>
                  <a:srgbClr val="4F5967"/>
                </a:solidFill>
                <a:latin typeface="宋体"/>
                <a:cs typeface="宋体"/>
              </a:rPr>
              <a:t>＊</a:t>
            </a:r>
            <a:r>
              <a:rPr sz="2000" spc="50" dirty="0">
                <a:solidFill>
                  <a:srgbClr val="4F5967"/>
                </a:solidFill>
                <a:latin typeface="宋体"/>
              </a:rPr>
              <a:t>注意：连接前需确保本地</a:t>
            </a:r>
            <a:r>
              <a:rPr sz="2000" b="1" spc="50" dirty="0">
                <a:solidFill>
                  <a:srgbClr val="4F5967"/>
                </a:solidFill>
                <a:latin typeface="宋体"/>
              </a:rPr>
              <a:t>Neo4j</a:t>
            </a:r>
            <a:r>
              <a:rPr sz="2000" spc="50" dirty="0">
                <a:solidFill>
                  <a:srgbClr val="4F5967"/>
                </a:solidFill>
                <a:latin typeface="宋体"/>
              </a:rPr>
              <a:t>服务已启动且认证信息正确。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1707142D-591D-E5A8-E592-AAEBAE6B5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2009" y="5397497"/>
            <a:ext cx="7057143" cy="142857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7D607184-B6C3-DB57-FEB6-F9D07E048F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3043" y="5097496"/>
            <a:ext cx="7019048" cy="2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57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1" y="1417582"/>
            <a:ext cx="2359630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3714" y="1417582"/>
            <a:ext cx="550580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03529" y="1417582"/>
            <a:ext cx="1761857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28310" y="1417582"/>
            <a:ext cx="503387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94621" y="1417582"/>
            <a:ext cx="3555176" cy="58274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088270" y="1357629"/>
            <a:ext cx="60896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80" dirty="0">
                <a:solidFill>
                  <a:srgbClr val="052F5D"/>
                </a:solidFill>
              </a:rPr>
              <a:t>．</a:t>
            </a:r>
            <a:endParaRPr sz="4450"/>
          </a:p>
        </p:txBody>
      </p:sp>
      <p:sp>
        <p:nvSpPr>
          <p:cNvPr id="8" name="object 8"/>
          <p:cNvSpPr txBox="1"/>
          <p:nvPr/>
        </p:nvSpPr>
        <p:spPr>
          <a:xfrm>
            <a:off x="1078874" y="2920834"/>
            <a:ext cx="17555865" cy="121700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200" spc="140" dirty="0">
                <a:solidFill>
                  <a:srgbClr val="232838"/>
                </a:solidFill>
                <a:latin typeface="宋体"/>
              </a:rPr>
              <a:t>定义好的对象仅存在于Python运行时内存中。必须调用数据库实例的提交方法，才能将其转化为Neo4j中的持久化节点和边。</a:t>
            </a:r>
          </a:p>
          <a:p>
            <a:pPr marL="1848485" algn="ctr">
              <a:lnSpc>
                <a:spcPts val="1695"/>
              </a:lnSpc>
              <a:spcBef>
                <a:spcPts val="580"/>
              </a:spcBef>
            </a:pPr>
            <a:endParaRPr sz="2200" spc="140" dirty="0">
              <a:solidFill>
                <a:srgbClr val="232838"/>
              </a:solidFill>
              <a:latin typeface="宋体"/>
            </a:endParaRPr>
          </a:p>
          <a:p>
            <a:pPr marL="15875">
              <a:lnSpc>
                <a:spcPts val="3495"/>
              </a:lnSpc>
            </a:pPr>
            <a:r>
              <a:rPr sz="3150" spc="50" dirty="0">
                <a:solidFill>
                  <a:srgbClr val="DB7E26"/>
                </a:solidFill>
                <a:latin typeface="宋体"/>
                <a:cs typeface="宋体"/>
              </a:rPr>
              <a:t>批量创建逻辑：</a:t>
            </a:r>
            <a:endParaRPr sz="3150" dirty="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2147" y="4493162"/>
            <a:ext cx="8700135" cy="127400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indent="7620" algn="just">
              <a:lnSpc>
                <a:spcPct val="130300"/>
              </a:lnSpc>
              <a:spcBef>
                <a:spcPts val="125"/>
              </a:spcBef>
            </a:pPr>
            <a:r>
              <a:rPr sz="2200" spc="200" dirty="0">
                <a:solidFill>
                  <a:srgbClr val="232838"/>
                </a:solidFill>
                <a:latin typeface="宋体"/>
              </a:rPr>
              <a:t>为了保证图谱的完整性，通常先创建两个根目录节点，作为所有异味和策略的入口。随后循环处理30组数据，为每—对(</a:t>
            </a:r>
            <a:r>
              <a:rPr sz="2200" b="1" spc="200" dirty="0">
                <a:solidFill>
                  <a:srgbClr val="232838"/>
                </a:solidFill>
                <a:latin typeface="宋体"/>
              </a:rPr>
              <a:t>Smell, Medicine</a:t>
            </a:r>
            <a:r>
              <a:rPr sz="2200" spc="200" dirty="0">
                <a:solidFill>
                  <a:srgbClr val="232838"/>
                </a:solidFill>
                <a:latin typeface="宋体"/>
              </a:rPr>
              <a:t>)建立关联。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421E3A10-D3F1-D030-B8FC-E419BECF89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2111" y="6222630"/>
            <a:ext cx="8732067" cy="1981225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DB3B509F-A6B7-5FDB-D8EB-B1A8C2EAD9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14050" y="3994058"/>
            <a:ext cx="7571428" cy="4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79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0210" y="1417582"/>
            <a:ext cx="550580" cy="56699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9445" y="1417582"/>
            <a:ext cx="503387" cy="58274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87799" y="1417582"/>
            <a:ext cx="550580" cy="566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01302" y="1417582"/>
            <a:ext cx="4719260" cy="5827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83486" y="1417582"/>
            <a:ext cx="1116891" cy="582748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2312436" y="1890079"/>
            <a:ext cx="551180" cy="0"/>
          </a:xfrm>
          <a:custGeom>
            <a:avLst/>
            <a:gdLst/>
            <a:ahLst/>
            <a:cxnLst/>
            <a:rect l="l" t="t" r="r" b="b"/>
            <a:pathLst>
              <a:path w="551180">
                <a:moveTo>
                  <a:pt x="0" y="0"/>
                </a:moveTo>
                <a:lnTo>
                  <a:pt x="550580" y="0"/>
                </a:lnTo>
              </a:path>
            </a:pathLst>
          </a:custGeom>
          <a:ln w="70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100246" y="1466404"/>
            <a:ext cx="478155" cy="54356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3760"/>
              </a:lnSpc>
            </a:pPr>
            <a:r>
              <a:rPr sz="3550" dirty="0">
                <a:solidFill>
                  <a:srgbClr val="052F5D"/>
                </a:solidFill>
                <a:latin typeface="宋体"/>
                <a:cs typeface="宋体"/>
              </a:rPr>
              <a:t>•</a:t>
            </a:r>
            <a:r>
              <a:rPr sz="3550" spc="-1265" dirty="0">
                <a:solidFill>
                  <a:srgbClr val="052F5D"/>
                </a:solidFill>
                <a:latin typeface="宋体"/>
                <a:cs typeface="宋体"/>
              </a:rPr>
              <a:t> </a:t>
            </a:r>
            <a:r>
              <a:rPr sz="3550" spc="-50" dirty="0">
                <a:solidFill>
                  <a:srgbClr val="052F5D"/>
                </a:solidFill>
                <a:latin typeface="宋体"/>
                <a:cs typeface="宋体"/>
              </a:rPr>
              <a:t>•</a:t>
            </a:r>
            <a:endParaRPr sz="355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9440" y="2818443"/>
            <a:ext cx="6539865" cy="25378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90"/>
              </a:spcBef>
            </a:pPr>
            <a:r>
              <a:rPr lang="zh-CN" altLang="en-US" sz="3200" spc="-10" dirty="0">
                <a:solidFill>
                  <a:srgbClr val="DD7E26"/>
                </a:solidFill>
                <a:latin typeface="宋体"/>
                <a:cs typeface="宋体"/>
              </a:rPr>
              <a:t>图谱规模概览：</a:t>
            </a:r>
            <a:endParaRPr sz="3200" dirty="0">
              <a:latin typeface="宋体"/>
              <a:cs typeface="宋体"/>
            </a:endParaRPr>
          </a:p>
          <a:p>
            <a:pPr marL="358140" marR="5080" indent="-346075">
              <a:lnSpc>
                <a:spcPct val="127200"/>
              </a:lnSpc>
              <a:spcBef>
                <a:spcPts val="1830"/>
              </a:spcBef>
              <a:buChar char="•"/>
              <a:tabLst>
                <a:tab pos="358140" algn="l"/>
                <a:tab pos="360680" algn="l"/>
              </a:tabLst>
            </a:pPr>
            <a:r>
              <a:rPr sz="2300" dirty="0">
                <a:solidFill>
                  <a:srgbClr val="242A38"/>
                </a:solidFill>
                <a:latin typeface="Arial"/>
                <a:cs typeface="Arial"/>
              </a:rPr>
              <a:t>	</a:t>
            </a:r>
            <a:r>
              <a:rPr sz="2300" spc="210" dirty="0">
                <a:solidFill>
                  <a:srgbClr val="052F5D"/>
                </a:solidFill>
                <a:latin typeface="Arial"/>
                <a:cs typeface="Arial"/>
              </a:rPr>
              <a:t>Smells</a:t>
            </a:r>
            <a:r>
              <a:rPr sz="2200" spc="290" dirty="0">
                <a:solidFill>
                  <a:srgbClr val="052F5D"/>
                </a:solidFill>
                <a:latin typeface="宋体"/>
                <a:cs typeface="宋体"/>
              </a:rPr>
              <a:t>节点： </a:t>
            </a:r>
            <a:r>
              <a:rPr sz="2300" spc="190" dirty="0">
                <a:solidFill>
                  <a:srgbClr val="242A38"/>
                </a:solidFill>
                <a:latin typeface="Arial"/>
                <a:cs typeface="Arial"/>
              </a:rPr>
              <a:t>30</a:t>
            </a:r>
            <a:r>
              <a:rPr sz="2200" spc="365" dirty="0">
                <a:solidFill>
                  <a:srgbClr val="242A38"/>
                </a:solidFill>
                <a:latin typeface="宋体"/>
                <a:cs typeface="宋体"/>
              </a:rPr>
              <a:t>个，涵盖代码复杂度、并</a:t>
            </a:r>
            <a:r>
              <a:rPr sz="2200" spc="105" dirty="0">
                <a:solidFill>
                  <a:srgbClr val="242A38"/>
                </a:solidFill>
                <a:latin typeface="宋体"/>
                <a:cs typeface="宋体"/>
              </a:rPr>
              <a:t>发、性能、规范等多个维度。</a:t>
            </a:r>
            <a:endParaRPr sz="2200" dirty="0">
              <a:latin typeface="宋体"/>
              <a:cs typeface="宋体"/>
            </a:endParaRPr>
          </a:p>
          <a:p>
            <a:pPr marL="362585" marR="5080" indent="-342900">
              <a:lnSpc>
                <a:spcPct val="122600"/>
              </a:lnSpc>
              <a:spcBef>
                <a:spcPts val="1025"/>
              </a:spcBef>
              <a:buChar char="•"/>
              <a:tabLst>
                <a:tab pos="362585" algn="l"/>
                <a:tab pos="367665" algn="l"/>
              </a:tabLst>
            </a:pPr>
            <a:r>
              <a:rPr sz="2300" dirty="0">
                <a:solidFill>
                  <a:srgbClr val="242A38"/>
                </a:solidFill>
                <a:latin typeface="Arial"/>
                <a:cs typeface="Arial"/>
              </a:rPr>
              <a:t>	</a:t>
            </a:r>
            <a:r>
              <a:rPr lang="en-US" altLang="zh-CN" sz="2300" dirty="0" err="1">
                <a:solidFill>
                  <a:srgbClr val="242A38"/>
                </a:solidFill>
                <a:latin typeface="Arial"/>
                <a:cs typeface="Arial"/>
              </a:rPr>
              <a:t>Medicine</a:t>
            </a:r>
            <a:r>
              <a:rPr sz="2200" spc="-55" dirty="0" err="1">
                <a:solidFill>
                  <a:srgbClr val="052F5D"/>
                </a:solidFill>
                <a:latin typeface="宋体"/>
                <a:cs typeface="宋体"/>
              </a:rPr>
              <a:t>节点</a:t>
            </a:r>
            <a:r>
              <a:rPr sz="2200" spc="-55" dirty="0">
                <a:solidFill>
                  <a:srgbClr val="052F5D"/>
                </a:solidFill>
                <a:latin typeface="宋体"/>
                <a:cs typeface="宋体"/>
              </a:rPr>
              <a:t>： </a:t>
            </a:r>
            <a:r>
              <a:rPr sz="3450" spc="150" baseline="1207" dirty="0">
                <a:solidFill>
                  <a:srgbClr val="242A38"/>
                </a:solidFill>
                <a:latin typeface="Arial"/>
                <a:cs typeface="Arial"/>
              </a:rPr>
              <a:t>30</a:t>
            </a:r>
            <a:r>
              <a:rPr sz="3300" spc="330" baseline="1262" dirty="0">
                <a:solidFill>
                  <a:srgbClr val="242A38"/>
                </a:solidFill>
                <a:latin typeface="宋体"/>
                <a:cs typeface="宋体"/>
              </a:rPr>
              <a:t>个，对应业界公认的重构</a:t>
            </a:r>
            <a:r>
              <a:rPr sz="2200" spc="110" dirty="0">
                <a:solidFill>
                  <a:srgbClr val="242A38"/>
                </a:solidFill>
                <a:latin typeface="宋体"/>
                <a:cs typeface="宋体"/>
              </a:rPr>
              <a:t>手法。</a:t>
            </a:r>
            <a:endParaRPr sz="2200" dirty="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64334" y="5626047"/>
            <a:ext cx="6624320" cy="9328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40055" marR="5080" indent="-427990">
              <a:lnSpc>
                <a:spcPct val="131700"/>
              </a:lnSpc>
              <a:spcBef>
                <a:spcPts val="85"/>
              </a:spcBef>
            </a:pPr>
            <a:r>
              <a:rPr sz="2200" spc="245" dirty="0">
                <a:solidFill>
                  <a:srgbClr val="242A38"/>
                </a:solidFill>
                <a:latin typeface="宋体"/>
                <a:cs typeface="宋体"/>
              </a:rPr>
              <a:t>·</a:t>
            </a:r>
            <a:r>
              <a:rPr sz="2200" spc="245" dirty="0">
                <a:solidFill>
                  <a:srgbClr val="052F5D"/>
                </a:solidFill>
                <a:latin typeface="宋体"/>
                <a:cs typeface="宋体"/>
              </a:rPr>
              <a:t>语义边：</a:t>
            </a:r>
            <a:r>
              <a:rPr sz="2200" spc="245" dirty="0">
                <a:solidFill>
                  <a:srgbClr val="242A38"/>
                </a:solidFill>
                <a:latin typeface="宋体"/>
                <a:cs typeface="宋体"/>
              </a:rPr>
              <a:t>超过</a:t>
            </a:r>
            <a:r>
              <a:rPr sz="2300" spc="110" dirty="0">
                <a:solidFill>
                  <a:srgbClr val="242A38"/>
                </a:solidFill>
                <a:latin typeface="Arial"/>
                <a:cs typeface="Arial"/>
              </a:rPr>
              <a:t>60</a:t>
            </a:r>
            <a:r>
              <a:rPr sz="2200" spc="240" dirty="0">
                <a:solidFill>
                  <a:srgbClr val="242A38"/>
                </a:solidFill>
                <a:latin typeface="宋体"/>
                <a:cs typeface="宋体"/>
              </a:rPr>
              <a:t>条，构建起完整的“病－药”</a:t>
            </a:r>
            <a:r>
              <a:rPr sz="2200" spc="120" dirty="0">
                <a:solidFill>
                  <a:srgbClr val="242A38"/>
                </a:solidFill>
                <a:latin typeface="宋体"/>
                <a:cs typeface="宋体"/>
              </a:rPr>
              <a:t>映射网络。</a:t>
            </a:r>
            <a:endParaRPr sz="2200" dirty="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70763" y="6874054"/>
            <a:ext cx="6525895" cy="1479829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97485" marR="5080" indent="-185420">
              <a:lnSpc>
                <a:spcPct val="103299"/>
              </a:lnSpc>
              <a:spcBef>
                <a:spcPts val="10"/>
              </a:spcBef>
            </a:pPr>
            <a:r>
              <a:rPr sz="2400" spc="145" dirty="0">
                <a:solidFill>
                  <a:srgbClr val="242A38"/>
                </a:solidFill>
                <a:latin typeface="宋体"/>
              </a:rPr>
              <a:t>结构特征： 呈现出以“Smells directory"和 "Medicine </a:t>
            </a:r>
            <a:r>
              <a:rPr sz="2400" spc="145" dirty="0" err="1">
                <a:solidFill>
                  <a:srgbClr val="242A38"/>
                </a:solidFill>
                <a:latin typeface="宋体"/>
              </a:rPr>
              <a:t>directory"为中心的双射网络，能够清晰追踪任意异味到具体解决方案的路径</a:t>
            </a:r>
            <a:r>
              <a:rPr sz="2400" spc="145" dirty="0">
                <a:solidFill>
                  <a:srgbClr val="242A38"/>
                </a:solidFill>
                <a:latin typeface="宋体"/>
              </a:rPr>
              <a:t>。</a:t>
            </a:r>
          </a:p>
        </p:txBody>
      </p:sp>
      <p:grpSp>
        <p:nvGrpSpPr>
          <p:cNvPr id="138" name="object 3">
            <a:extLst>
              <a:ext uri="{FF2B5EF4-FFF2-40B4-BE49-F238E27FC236}">
                <a16:creationId xmlns:a16="http://schemas.microsoft.com/office/drawing/2014/main" id="{39234E27-E092-DA47-9C42-BBF4BA14F60A}"/>
              </a:ext>
            </a:extLst>
          </p:cNvPr>
          <p:cNvGrpSpPr/>
          <p:nvPr/>
        </p:nvGrpSpPr>
        <p:grpSpPr>
          <a:xfrm>
            <a:off x="8341591" y="2790118"/>
            <a:ext cx="10829925" cy="7594600"/>
            <a:chOff x="8198703" y="2803580"/>
            <a:chExt cx="10829925" cy="7594600"/>
          </a:xfrm>
        </p:grpSpPr>
        <p:pic>
          <p:nvPicPr>
            <p:cNvPr id="139" name="object 4">
              <a:extLst>
                <a:ext uri="{FF2B5EF4-FFF2-40B4-BE49-F238E27FC236}">
                  <a16:creationId xmlns:a16="http://schemas.microsoft.com/office/drawing/2014/main" id="{CF805FAE-49FD-DC1F-9CB5-8D61C57CB29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98703" y="2803580"/>
              <a:ext cx="10829513" cy="7594009"/>
            </a:xfrm>
            <a:prstGeom prst="rect">
              <a:avLst/>
            </a:prstGeom>
          </p:spPr>
        </p:pic>
        <p:pic>
          <p:nvPicPr>
            <p:cNvPr id="140" name="object 5">
              <a:extLst>
                <a:ext uri="{FF2B5EF4-FFF2-40B4-BE49-F238E27FC236}">
                  <a16:creationId xmlns:a16="http://schemas.microsoft.com/office/drawing/2014/main" id="{A08180A8-D205-0970-D589-2401A1462C7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76449" y="4052233"/>
              <a:ext cx="557574" cy="4790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9280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079273" y="3105879"/>
            <a:ext cx="1556893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232A38"/>
                </a:solidFill>
                <a:latin typeface="宋体"/>
                <a:cs typeface="宋体"/>
              </a:rPr>
              <a:t>知识图谱的真正威力在千</a:t>
            </a:r>
            <a:r>
              <a:rPr sz="2300" dirty="0">
                <a:solidFill>
                  <a:srgbClr val="07315E"/>
                </a:solidFill>
                <a:latin typeface="宋体"/>
                <a:cs typeface="宋体"/>
              </a:rPr>
              <a:t>智能检索</a:t>
            </a:r>
            <a:r>
              <a:rPr sz="2300" spc="-5" dirty="0">
                <a:solidFill>
                  <a:srgbClr val="232A38"/>
                </a:solidFill>
                <a:latin typeface="宋体"/>
                <a:cs typeface="宋体"/>
              </a:rPr>
              <a:t>。本阶段要求学生编写查询逻辑，使用户能通过自然语言关键词找到问题的最优解。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41211" y="4078438"/>
            <a:ext cx="2954655" cy="549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450" spc="-140" dirty="0">
                <a:solidFill>
                  <a:srgbClr val="DD7E24"/>
                </a:solidFill>
                <a:latin typeface="Times New Roman"/>
                <a:cs typeface="Times New Roman"/>
              </a:rPr>
              <a:t>1</a:t>
            </a:r>
            <a:r>
              <a:rPr sz="3200" spc="-145" dirty="0">
                <a:solidFill>
                  <a:srgbClr val="DD7E24"/>
                </a:solidFill>
              </a:rPr>
              <a:t>．模糊匹配逻辑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6931" y="4078438"/>
            <a:ext cx="2927985" cy="549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450" spc="-160" dirty="0">
                <a:solidFill>
                  <a:srgbClr val="DD7E24"/>
                </a:solidFill>
                <a:latin typeface="Times New Roman"/>
                <a:cs typeface="Times New Roman"/>
              </a:rPr>
              <a:t>2</a:t>
            </a:r>
            <a:r>
              <a:rPr sz="3200" spc="-175" dirty="0">
                <a:solidFill>
                  <a:srgbClr val="DD7E24"/>
                </a:solidFill>
                <a:latin typeface="宋体"/>
                <a:cs typeface="宋体"/>
              </a:rPr>
              <a:t>．关系路径遍历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18573" y="4098125"/>
            <a:ext cx="4964430" cy="21863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250" spc="-150" dirty="0">
                <a:solidFill>
                  <a:srgbClr val="DD7E24"/>
                </a:solidFill>
                <a:latin typeface="Arial"/>
                <a:cs typeface="Arial"/>
              </a:rPr>
              <a:t>3</a:t>
            </a:r>
            <a:r>
              <a:rPr sz="3200" spc="-170" dirty="0">
                <a:solidFill>
                  <a:srgbClr val="DD7E24"/>
                </a:solidFill>
                <a:latin typeface="宋体"/>
                <a:cs typeface="宋体"/>
              </a:rPr>
              <a:t>．权重降序推荐</a:t>
            </a:r>
            <a:endParaRPr sz="3200">
              <a:latin typeface="宋体"/>
              <a:cs typeface="宋体"/>
            </a:endParaRPr>
          </a:p>
          <a:p>
            <a:pPr marL="15240" marR="5080" indent="-1270" algn="just">
              <a:lnSpc>
                <a:spcPct val="129299"/>
              </a:lnSpc>
              <a:spcBef>
                <a:spcPts val="1790"/>
              </a:spcBef>
            </a:pPr>
            <a:r>
              <a:rPr sz="2300" spc="215" dirty="0">
                <a:solidFill>
                  <a:srgbClr val="232A38"/>
                </a:solidFill>
                <a:latin typeface="宋体"/>
                <a:cs typeface="宋体"/>
              </a:rPr>
              <a:t>如果匹配到多个异味，根据</a:t>
            </a:r>
            <a:r>
              <a:rPr sz="2600" spc="105" dirty="0">
                <a:solidFill>
                  <a:srgbClr val="232A38"/>
                </a:solidFill>
                <a:latin typeface="Times New Roman"/>
                <a:cs typeface="Times New Roman"/>
              </a:rPr>
              <a:t>level</a:t>
            </a:r>
            <a:r>
              <a:rPr sz="2300" spc="155" dirty="0">
                <a:solidFill>
                  <a:srgbClr val="232A38"/>
                </a:solidFill>
                <a:latin typeface="宋体"/>
                <a:cs typeface="宋体"/>
              </a:rPr>
              <a:t>属</a:t>
            </a:r>
            <a:r>
              <a:rPr sz="2300" spc="110" dirty="0">
                <a:solidFill>
                  <a:srgbClr val="232A38"/>
                </a:solidFill>
                <a:latin typeface="宋体"/>
                <a:cs typeface="宋体"/>
              </a:rPr>
              <a:t>性降序排列。实现“高风险问题优先</a:t>
            </a:r>
            <a:r>
              <a:rPr sz="2300" spc="-5" dirty="0">
                <a:solidFill>
                  <a:srgbClr val="232A38"/>
                </a:solidFill>
                <a:latin typeface="宋体"/>
                <a:cs typeface="宋体"/>
              </a:rPr>
              <a:t>展示＂的启发式推荐。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2105" y="4825142"/>
            <a:ext cx="4958080" cy="197964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6034" marR="5080" algn="just">
              <a:lnSpc>
                <a:spcPct val="104800"/>
              </a:lnSpc>
              <a:spcBef>
                <a:spcPts val="385"/>
              </a:spcBef>
            </a:pPr>
            <a:r>
              <a:rPr sz="2300" spc="340" dirty="0">
                <a:solidFill>
                  <a:srgbClr val="232A38"/>
                </a:solidFill>
                <a:latin typeface="宋体"/>
              </a:rPr>
              <a:t>利用Cypher的CONTAINS关键词。用户输入“SQL"时，系统应能自动匹配出“Inefficient SQL query"节</a:t>
            </a: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300" spc="340" dirty="0">
                <a:solidFill>
                  <a:srgbClr val="232A38"/>
                </a:solidFill>
                <a:latin typeface="宋体"/>
              </a:rPr>
              <a:t>点。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632225" y="4911899"/>
            <a:ext cx="4955540" cy="166346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just">
              <a:lnSpc>
                <a:spcPct val="120600"/>
              </a:lnSpc>
              <a:spcBef>
                <a:spcPts val="60"/>
              </a:spcBef>
            </a:pPr>
            <a:r>
              <a:rPr sz="2300" spc="455" dirty="0">
                <a:solidFill>
                  <a:srgbClr val="232A38"/>
                </a:solidFill>
                <a:latin typeface="宋体"/>
              </a:rPr>
              <a:t>不仅要找到“异味＂，还需顺着 </a:t>
            </a:r>
            <a:r>
              <a:rPr sz="2300" spc="455" dirty="0" err="1">
                <a:solidFill>
                  <a:srgbClr val="232A38"/>
                </a:solidFill>
                <a:latin typeface="宋体"/>
              </a:rPr>
              <a:t>MEDICINE边自动导航到关联的＂策略”节点，获取solution详细属性</a:t>
            </a:r>
            <a:r>
              <a:rPr sz="2300" spc="455" dirty="0">
                <a:solidFill>
                  <a:srgbClr val="232A38"/>
                </a:solidFill>
                <a:latin typeface="宋体"/>
              </a:rPr>
              <a:t>。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83821" y="7637928"/>
            <a:ext cx="15281910" cy="455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00" spc="55" dirty="0">
                <a:solidFill>
                  <a:srgbClr val="07315E"/>
                </a:solidFill>
                <a:latin typeface="宋体"/>
                <a:cs typeface="宋体"/>
              </a:rPr>
              <a:t>技术挑战：</a:t>
            </a:r>
            <a:r>
              <a:rPr sz="2300" spc="55" dirty="0">
                <a:solidFill>
                  <a:srgbClr val="232A38"/>
                </a:solidFill>
                <a:latin typeface="宋体"/>
                <a:cs typeface="宋体"/>
              </a:rPr>
              <a:t>如何在</a:t>
            </a:r>
            <a:r>
              <a:rPr sz="2400" dirty="0">
                <a:solidFill>
                  <a:srgbClr val="232A38"/>
                </a:solidFill>
                <a:latin typeface="Arial"/>
                <a:cs typeface="Arial"/>
              </a:rPr>
              <a:t>P</a:t>
            </a:r>
            <a:r>
              <a:rPr sz="2800" dirty="0">
                <a:solidFill>
                  <a:srgbClr val="232A38"/>
                </a:solidFill>
                <a:latin typeface="宋体"/>
                <a:cs typeface="宋体"/>
              </a:rPr>
              <a:t>yt</a:t>
            </a:r>
            <a:r>
              <a:rPr sz="2300" dirty="0">
                <a:solidFill>
                  <a:srgbClr val="232A38"/>
                </a:solidFill>
                <a:latin typeface="Arial"/>
                <a:cs typeface="Arial"/>
              </a:rPr>
              <a:t>hon</a:t>
            </a:r>
            <a:r>
              <a:rPr sz="2300" spc="50" dirty="0">
                <a:solidFill>
                  <a:srgbClr val="232A38"/>
                </a:solidFill>
                <a:latin typeface="宋体"/>
                <a:cs typeface="宋体"/>
              </a:rPr>
              <a:t>中封装查询语句？如何处理查询结果中复杂的对象字典？如何实现多关键词的拆分查询？</a:t>
            </a:r>
            <a:endParaRPr sz="2300">
              <a:latin typeface="宋体"/>
              <a:cs typeface="宋体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172D553-34D6-5687-5870-B217B9754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95" y="364795"/>
            <a:ext cx="3074350" cy="2544290"/>
          </a:xfrm>
          <a:prstGeom prst="rect">
            <a:avLst/>
          </a:prstGeom>
        </p:spPr>
      </p:pic>
      <p:sp>
        <p:nvSpPr>
          <p:cNvPr id="16" name="object 4">
            <a:extLst>
              <a:ext uri="{FF2B5EF4-FFF2-40B4-BE49-F238E27FC236}">
                <a16:creationId xmlns:a16="http://schemas.microsoft.com/office/drawing/2014/main" id="{839FFB3B-742F-CF66-3071-D6C64B84F914}"/>
              </a:ext>
            </a:extLst>
          </p:cNvPr>
          <p:cNvSpPr txBox="1">
            <a:spLocks/>
          </p:cNvSpPr>
          <p:nvPr/>
        </p:nvSpPr>
        <p:spPr>
          <a:xfrm>
            <a:off x="1541211" y="1793730"/>
            <a:ext cx="9476593" cy="75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>
            <a:lvl1pPr>
              <a:defRPr sz="2950" b="0" i="0">
                <a:solidFill>
                  <a:srgbClr val="DD7E26"/>
                </a:solidFill>
                <a:latin typeface="宋体"/>
                <a:ea typeface="+mj-ea"/>
                <a:cs typeface="宋体"/>
              </a:defRPr>
            </a:lvl1pPr>
          </a:lstStyle>
          <a:p>
            <a:pPr marL="12700">
              <a:spcBef>
                <a:spcPts val="90"/>
              </a:spcBef>
            </a:pPr>
            <a:r>
              <a:rPr lang="zh-CN" altLang="en-US" sz="4800" b="1" spc="-50" dirty="0">
                <a:solidFill>
                  <a:srgbClr val="0D3057"/>
                </a:solidFill>
                <a:latin typeface="SimSun"/>
              </a:rPr>
              <a:t>阶段</a:t>
            </a:r>
            <a:r>
              <a:rPr lang="zh-CN" altLang="en-US" sz="4800" b="1" spc="-50" dirty="0">
                <a:solidFill>
                  <a:srgbClr val="0D3057"/>
                </a:solidFill>
                <a:latin typeface="+mn-lt"/>
                <a:ea typeface="+mn-ea"/>
              </a:rPr>
              <a:t>三</a:t>
            </a:r>
            <a:r>
              <a:rPr lang="zh-CN" altLang="en-US" sz="4800" b="1" spc="-50" dirty="0">
                <a:solidFill>
                  <a:srgbClr val="0D3057"/>
                </a:solidFill>
                <a:latin typeface="SimSun"/>
              </a:rPr>
              <a:t>：编写查询排序函数算法</a:t>
            </a:r>
          </a:p>
        </p:txBody>
      </p:sp>
    </p:spTree>
    <p:extLst>
      <p:ext uri="{BB962C8B-B14F-4D97-AF65-F5344CB8AC3E}">
        <p14:creationId xmlns:p14="http://schemas.microsoft.com/office/powerpoint/2010/main" val="3064443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1" y="1417582"/>
            <a:ext cx="2375361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05756" y="1449081"/>
            <a:ext cx="2076474" cy="629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39540" y="1417582"/>
            <a:ext cx="1730396" cy="5827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05899" y="1449081"/>
            <a:ext cx="1667472" cy="6299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36296" y="1606581"/>
            <a:ext cx="314617" cy="3307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39684" y="1417582"/>
            <a:ext cx="1164083" cy="58274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84957" y="3003504"/>
            <a:ext cx="14275435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通过graph.run()执行Cypher语句，并利用Python字典解析查询结果。以下是实现智能检索的核心逻辑：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1078229" y="8181302"/>
            <a:ext cx="12895580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300" spc="-204" dirty="0">
                <a:solidFill>
                  <a:srgbClr val="072F5D"/>
                </a:solidFill>
                <a:latin typeface="宋体"/>
                <a:cs typeface="宋体"/>
              </a:rPr>
              <a:t>逻辑解析：</a:t>
            </a:r>
            <a:r>
              <a:rPr sz="2350" spc="-145" dirty="0">
                <a:solidFill>
                  <a:srgbClr val="232836"/>
                </a:solidFill>
                <a:latin typeface="Arial"/>
                <a:cs typeface="Arial"/>
              </a:rPr>
              <a:t>MATCH</a:t>
            </a:r>
            <a:r>
              <a:rPr sz="2300" spc="-204" dirty="0">
                <a:solidFill>
                  <a:srgbClr val="232836"/>
                </a:solidFill>
                <a:latin typeface="宋体"/>
                <a:cs typeface="宋体"/>
              </a:rPr>
              <a:t>寻找模式，</a:t>
            </a:r>
            <a:r>
              <a:rPr sz="2350" spc="-150" dirty="0">
                <a:solidFill>
                  <a:srgbClr val="232836"/>
                </a:solidFill>
                <a:latin typeface="Arial"/>
                <a:cs typeface="Arial"/>
              </a:rPr>
              <a:t>WHERE</a:t>
            </a:r>
            <a:r>
              <a:rPr sz="2300" spc="-200" dirty="0">
                <a:solidFill>
                  <a:srgbClr val="232836"/>
                </a:solidFill>
                <a:latin typeface="宋体"/>
                <a:cs typeface="宋体"/>
              </a:rPr>
              <a:t>过滤文本，</a:t>
            </a:r>
            <a:r>
              <a:rPr sz="2350" spc="-140" dirty="0">
                <a:solidFill>
                  <a:srgbClr val="232836"/>
                </a:solidFill>
                <a:latin typeface="Arial"/>
                <a:cs typeface="Arial"/>
              </a:rPr>
              <a:t>RETURN</a:t>
            </a:r>
            <a:r>
              <a:rPr sz="2300" spc="-210" dirty="0">
                <a:solidFill>
                  <a:srgbClr val="232836"/>
                </a:solidFill>
                <a:latin typeface="宋体"/>
                <a:cs typeface="宋体"/>
              </a:rPr>
              <a:t>提取关键信息，</a:t>
            </a:r>
            <a:r>
              <a:rPr sz="2350" spc="-150" dirty="0">
                <a:solidFill>
                  <a:srgbClr val="232836"/>
                </a:solidFill>
                <a:latin typeface="Arial"/>
                <a:cs typeface="Arial"/>
              </a:rPr>
              <a:t>ORDER</a:t>
            </a:r>
            <a:r>
              <a:rPr sz="2350" spc="65" dirty="0">
                <a:solidFill>
                  <a:srgbClr val="232836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32836"/>
                </a:solidFill>
                <a:latin typeface="Arial"/>
                <a:cs typeface="Arial"/>
              </a:rPr>
              <a:t>BY</a:t>
            </a:r>
            <a:r>
              <a:rPr sz="2300" spc="-15" dirty="0">
                <a:solidFill>
                  <a:srgbClr val="232836"/>
                </a:solidFill>
                <a:latin typeface="宋体"/>
                <a:cs typeface="宋体"/>
              </a:rPr>
              <a:t>实现优先级逻辑。</a:t>
            </a:r>
            <a:endParaRPr sz="2300">
              <a:latin typeface="宋体"/>
              <a:cs typeface="宋体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DBF26331-79D7-5C76-7114-62131A3962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968" y="3597275"/>
            <a:ext cx="17792097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408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26008" y="1432283"/>
            <a:ext cx="6716395" cy="694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b="0" spc="-50" dirty="0">
                <a:latin typeface="SimSun"/>
                <a:cs typeface="SimSun"/>
              </a:rPr>
              <a:t>实验验收标准与达成度评定</a:t>
            </a:r>
            <a:endParaRPr sz="4400">
              <a:latin typeface="SimSun"/>
              <a:cs typeface="SimSu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71875" y="3279801"/>
          <a:ext cx="15670530" cy="3416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365">
                <a:tc>
                  <a:txBody>
                    <a:bodyPr/>
                    <a:lstStyle/>
                    <a:p>
                      <a:pPr marL="31750">
                        <a:lnSpc>
                          <a:spcPts val="2165"/>
                        </a:lnSpc>
                      </a:pPr>
                      <a:r>
                        <a:rPr sz="2050" b="1" spc="-50" dirty="0">
                          <a:solidFill>
                            <a:srgbClr val="FFFFFF"/>
                          </a:solidFill>
                          <a:latin typeface="SimSun"/>
                          <a:cs typeface="SimSun"/>
                        </a:rPr>
                        <a:t>评价维度</a:t>
                      </a:r>
                      <a:endParaRPr sz="2050">
                        <a:latin typeface="SimSun"/>
                        <a:cs typeface="SimSu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2100">
                        <a:lnSpc>
                          <a:spcPts val="2165"/>
                        </a:lnSpc>
                      </a:pPr>
                      <a:r>
                        <a:rPr sz="2050" b="1" spc="-50" dirty="0">
                          <a:solidFill>
                            <a:srgbClr val="FFFFFF"/>
                          </a:solidFill>
                          <a:latin typeface="SimSun"/>
                          <a:cs typeface="SimSun"/>
                        </a:rPr>
                        <a:t>分值区间</a:t>
                      </a:r>
                      <a:endParaRPr sz="2050">
                        <a:latin typeface="SimSun"/>
                        <a:cs typeface="SimSu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ts val="2165"/>
                        </a:lnSpc>
                      </a:pPr>
                      <a:r>
                        <a:rPr sz="2050" b="1" spc="-50" dirty="0">
                          <a:solidFill>
                            <a:srgbClr val="FFFFFF"/>
                          </a:solidFill>
                          <a:latin typeface="SimSun"/>
                          <a:cs typeface="SimSun"/>
                        </a:rPr>
                        <a:t>核心成果表现(验收要点)</a:t>
                      </a:r>
                      <a:endParaRPr sz="2050">
                        <a:latin typeface="SimSun"/>
                        <a:cs typeface="SimSu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9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55244">
                        <a:lnSpc>
                          <a:spcPct val="100000"/>
                        </a:lnSpc>
                      </a:pPr>
                      <a:r>
                        <a:rPr sz="2050" b="1" spc="-50" dirty="0">
                          <a:solidFill>
                            <a:srgbClr val="0D3057"/>
                          </a:solidFill>
                          <a:latin typeface="SimSun"/>
                          <a:cs typeface="SimSun"/>
                        </a:rPr>
                        <a:t>良好但)</a:t>
                      </a:r>
                      <a:endParaRPr sz="2050">
                        <a:latin typeface="SimSun"/>
                        <a:cs typeface="SimSu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2762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0" dirty="0">
                          <a:latin typeface="Arial Unicode MS"/>
                          <a:cs typeface="Arial Unicode MS"/>
                        </a:rPr>
                        <a:t>80-</a:t>
                      </a:r>
                      <a:r>
                        <a:rPr sz="1800" spc="-25" dirty="0">
                          <a:latin typeface="Arial Unicode MS"/>
                          <a:cs typeface="Arial Unicode MS"/>
                        </a:rPr>
                        <a:t>89</a:t>
                      </a:r>
                      <a:endParaRPr sz="1800">
                        <a:latin typeface="Arial Unicode MS"/>
                        <a:cs typeface="Arial Unicode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ct val="100000"/>
                        </a:lnSpc>
                        <a:spcBef>
                          <a:spcPts val="1825"/>
                        </a:spcBef>
                      </a:pPr>
                      <a:r>
                        <a:rPr sz="2050" spc="-30" dirty="0">
                          <a:latin typeface="SimSun"/>
                          <a:cs typeface="SimSun"/>
                        </a:rPr>
                        <a:t>图谱节点与关系完整(》</a:t>
                      </a:r>
                      <a:r>
                        <a:rPr sz="1800" spc="-20" dirty="0">
                          <a:latin typeface="Arial Unicode MS"/>
                          <a:cs typeface="Arial Unicode MS"/>
                        </a:rPr>
                        <a:t>60</a:t>
                      </a:r>
                      <a:r>
                        <a:rPr sz="2050" spc="-35" dirty="0">
                          <a:latin typeface="SimSun"/>
                          <a:cs typeface="SimSun"/>
                        </a:rPr>
                        <a:t>个)；代码能处理中英文多关键词；实现了复合评分排序算法；可视化布局清晰。</a:t>
                      </a:r>
                      <a:endParaRPr sz="2050">
                        <a:latin typeface="SimSun"/>
                        <a:cs typeface="SimSu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6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marL="290195">
                        <a:lnSpc>
                          <a:spcPct val="100000"/>
                        </a:lnSpc>
                      </a:pPr>
                      <a:r>
                        <a:rPr sz="2050" spc="-35" dirty="0">
                          <a:latin typeface="SimSun"/>
                          <a:cs typeface="SimSun"/>
                        </a:rPr>
                        <a:t>能够独立完成全流程构建；代码运行稳定；能正确识别所有核心实体；查询功能基本实现。</a:t>
                      </a:r>
                      <a:endParaRPr sz="2050">
                        <a:latin typeface="SimSun"/>
                        <a:cs typeface="SimSun"/>
                      </a:endParaRPr>
                    </a:p>
                  </a:txBody>
                  <a:tcPr marL="0" marR="0" marT="2317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860"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sz="2050" b="1" spc="-50" dirty="0">
                          <a:solidFill>
                            <a:srgbClr val="0D3057"/>
                          </a:solidFill>
                          <a:latin typeface="SimSun"/>
                          <a:cs typeface="SimSun"/>
                        </a:rPr>
                        <a:t>合格</a:t>
                      </a:r>
                      <a:r>
                        <a:rPr sz="1800" spc="-25" dirty="0">
                          <a:solidFill>
                            <a:srgbClr val="0D3057"/>
                          </a:solidFill>
                          <a:latin typeface="Arial Unicode MS"/>
                          <a:cs typeface="Arial Unicode MS"/>
                        </a:rPr>
                        <a:t>(0</a:t>
                      </a:r>
                      <a:endParaRPr sz="1800">
                        <a:latin typeface="Arial Unicode MS"/>
                        <a:cs typeface="Arial Unicode MS"/>
                      </a:endParaRPr>
                    </a:p>
                  </a:txBody>
                  <a:tcPr marL="0" marR="0" marT="222885" marB="0"/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1800" spc="-20" dirty="0">
                          <a:latin typeface="Arial Unicode MS"/>
                          <a:cs typeface="Arial Unicode MS"/>
                        </a:rPr>
                        <a:t>60-</a:t>
                      </a:r>
                      <a:r>
                        <a:rPr sz="1800" spc="-25" dirty="0">
                          <a:latin typeface="Arial Unicode MS"/>
                          <a:cs typeface="Arial Unicode MS"/>
                        </a:rPr>
                        <a:t>79</a:t>
                      </a:r>
                      <a:endParaRPr sz="1800">
                        <a:latin typeface="Arial Unicode MS"/>
                        <a:cs typeface="Arial Unicode MS"/>
                      </a:endParaRPr>
                    </a:p>
                  </a:txBody>
                  <a:tcPr marL="0" marR="0" marT="254635" marB="0"/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sz="2050" spc="-35" dirty="0">
                          <a:latin typeface="SimSun"/>
                          <a:cs typeface="SimSun"/>
                        </a:rPr>
                        <a:t>在教师指导下完成基础节点创建；图谱结构基本完整，但查询排序逻辑存在简单错误或冗余。</a:t>
                      </a:r>
                      <a:endParaRPr sz="2050">
                        <a:latin typeface="SimSun"/>
                        <a:cs typeface="SimSun"/>
                      </a:endParaRPr>
                    </a:p>
                  </a:txBody>
                  <a:tcPr marL="0" marR="0" marT="2228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 marL="39370">
                        <a:lnSpc>
                          <a:spcPts val="2435"/>
                        </a:lnSpc>
                        <a:spcBef>
                          <a:spcPts val="1755"/>
                        </a:spcBef>
                      </a:pPr>
                      <a:r>
                        <a:rPr sz="2050" b="1" spc="-40" dirty="0">
                          <a:solidFill>
                            <a:srgbClr val="0D3057"/>
                          </a:solidFill>
                          <a:latin typeface="SimSun"/>
                          <a:cs typeface="SimSun"/>
                        </a:rPr>
                        <a:t>不合格①)</a:t>
                      </a:r>
                      <a:endParaRPr sz="2050">
                        <a:latin typeface="SimSun"/>
                        <a:cs typeface="SimSun"/>
                      </a:endParaRPr>
                    </a:p>
                  </a:txBody>
                  <a:tcPr marL="0" marR="0" marT="222885" marB="0"/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ts val="2435"/>
                        </a:lnSpc>
                        <a:spcBef>
                          <a:spcPts val="1755"/>
                        </a:spcBef>
                      </a:pPr>
                      <a:r>
                        <a:rPr sz="2050" spc="-30" dirty="0">
                          <a:latin typeface="SimSun"/>
                          <a:cs typeface="SimSun"/>
                        </a:rPr>
                        <a:t>〈</a:t>
                      </a:r>
                      <a:r>
                        <a:rPr sz="1800" spc="-25" dirty="0">
                          <a:latin typeface="Arial Unicode MS"/>
                          <a:cs typeface="Arial Unicode MS"/>
                        </a:rPr>
                        <a:t>60</a:t>
                      </a:r>
                      <a:endParaRPr sz="1800">
                        <a:latin typeface="Arial Unicode MS"/>
                        <a:cs typeface="Arial Unicode MS"/>
                      </a:endParaRPr>
                    </a:p>
                  </a:txBody>
                  <a:tcPr marL="0" marR="0" marT="222885" marB="0"/>
                </a:tc>
                <a:tc>
                  <a:txBody>
                    <a:bodyPr/>
                    <a:lstStyle/>
                    <a:p>
                      <a:pPr marL="290195">
                        <a:lnSpc>
                          <a:spcPts val="2435"/>
                        </a:lnSpc>
                        <a:spcBef>
                          <a:spcPts val="1755"/>
                        </a:spcBef>
                      </a:pPr>
                      <a:r>
                        <a:rPr sz="2050" spc="-30" dirty="0">
                          <a:latin typeface="SimSun"/>
                          <a:cs typeface="SimSun"/>
                        </a:rPr>
                        <a:t>无法连接</a:t>
                      </a:r>
                      <a:r>
                        <a:rPr sz="1800" spc="-20" dirty="0">
                          <a:latin typeface="Arial Unicode MS"/>
                          <a:cs typeface="Arial Unicode MS"/>
                        </a:rPr>
                        <a:t>1^</a:t>
                      </a:r>
                      <a:r>
                        <a:rPr sz="2050" spc="-35" dirty="0">
                          <a:latin typeface="SimSun"/>
                          <a:cs typeface="SimSun"/>
                        </a:rPr>
                        <a:t>。书数据库；核心模型缺失；数据导入代码存在严重的语法错误。</a:t>
                      </a:r>
                      <a:endParaRPr sz="2050">
                        <a:latin typeface="SimSun"/>
                        <a:cs typeface="SimSun"/>
                      </a:endParaRPr>
                    </a:p>
                  </a:txBody>
                  <a:tcPr marL="0" marR="0" marT="22288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69196" y="7251477"/>
            <a:ext cx="960310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00" dirty="0">
                <a:solidFill>
                  <a:srgbClr val="0D3057"/>
                </a:solidFill>
                <a:latin typeface="SimSun"/>
                <a:cs typeface="SimSun"/>
              </a:rPr>
              <a:t>评价权重：</a:t>
            </a:r>
            <a:r>
              <a:rPr sz="2100" dirty="0">
                <a:latin typeface="SimSun"/>
                <a:cs typeface="SimSun"/>
              </a:rPr>
              <a:t>技术实现</a:t>
            </a:r>
            <a:r>
              <a:rPr sz="2400" dirty="0">
                <a:latin typeface="Arial Unicode MS"/>
                <a:cs typeface="Arial Unicode MS"/>
              </a:rPr>
              <a:t>(40%)+</a:t>
            </a:r>
            <a:r>
              <a:rPr sz="2100" dirty="0">
                <a:latin typeface="SimSun"/>
                <a:cs typeface="SimSun"/>
              </a:rPr>
              <a:t>逻辑建模</a:t>
            </a:r>
            <a:r>
              <a:rPr sz="2400" dirty="0">
                <a:latin typeface="Arial Unicode MS"/>
                <a:cs typeface="Arial Unicode MS"/>
              </a:rPr>
              <a:t>(20%)+</a:t>
            </a:r>
            <a:r>
              <a:rPr sz="2100" dirty="0">
                <a:latin typeface="SimSun"/>
                <a:cs typeface="SimSun"/>
              </a:rPr>
              <a:t>理论掌握</a:t>
            </a:r>
            <a:r>
              <a:rPr sz="2400" dirty="0">
                <a:latin typeface="Arial Unicode MS"/>
                <a:cs typeface="Arial Unicode MS"/>
              </a:rPr>
              <a:t>(30%)+</a:t>
            </a:r>
            <a:r>
              <a:rPr sz="2100" dirty="0">
                <a:latin typeface="SimSun"/>
                <a:cs typeface="SimSun"/>
              </a:rPr>
              <a:t>创新应用</a:t>
            </a:r>
            <a:r>
              <a:rPr sz="2400" spc="-10" dirty="0">
                <a:latin typeface="Arial Unicode MS"/>
                <a:cs typeface="Arial Unicode MS"/>
              </a:rPr>
              <a:t>(10%)</a:t>
            </a:r>
            <a:r>
              <a:rPr sz="2400" spc="-15" baseline="-29513" dirty="0">
                <a:latin typeface="Arial Unicode MS"/>
                <a:cs typeface="Arial Unicode MS"/>
              </a:rPr>
              <a:t>0</a:t>
            </a:r>
            <a:endParaRPr sz="2400" baseline="-29513">
              <a:latin typeface="Arial Unicode MS"/>
              <a:cs typeface="Arial Unicode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891" y="1417582"/>
            <a:ext cx="2957403" cy="5827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87799" y="1417582"/>
            <a:ext cx="550580" cy="566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01302" y="1417582"/>
            <a:ext cx="4719260" cy="58274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679C2A8-E4C8-D85F-9900-5D72C1F28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1750" y="-1"/>
            <a:ext cx="20135850" cy="1149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48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50DE5787-270D-FBE1-B17E-D4B9738B4AF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78229" y="3034158"/>
            <a:ext cx="8725535" cy="13366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9050" marR="5080">
              <a:lnSpc>
                <a:spcPct val="122200"/>
              </a:lnSpc>
              <a:spcBef>
                <a:spcPts val="45"/>
              </a:spcBef>
            </a:pPr>
            <a:r>
              <a:rPr sz="2300" spc="-5" dirty="0">
                <a:solidFill>
                  <a:srgbClr val="232A36"/>
                </a:solidFill>
                <a:latin typeface="宋体"/>
                <a:cs typeface="宋体"/>
              </a:rPr>
              <a:t>通过本次“代码异味－重构策略知识图谱＂的构建实验，学生不仅</a:t>
            </a:r>
            <a:r>
              <a:rPr sz="2300" spc="114" dirty="0">
                <a:solidFill>
                  <a:srgbClr val="232A36"/>
                </a:solidFill>
                <a:latin typeface="宋体"/>
                <a:cs typeface="宋体"/>
              </a:rPr>
              <a:t>掌握了</a:t>
            </a:r>
            <a:r>
              <a:rPr sz="2300" spc="114" dirty="0">
                <a:solidFill>
                  <a:srgbClr val="082F5D"/>
                </a:solidFill>
                <a:latin typeface="宋体"/>
                <a:cs typeface="宋体"/>
              </a:rPr>
              <a:t>图数据库</a:t>
            </a:r>
            <a:r>
              <a:rPr sz="2400" spc="80" dirty="0">
                <a:solidFill>
                  <a:srgbClr val="082F5D"/>
                </a:solidFill>
                <a:latin typeface="Arial"/>
                <a:cs typeface="Arial"/>
              </a:rPr>
              <a:t>Neo4</a:t>
            </a:r>
            <a:r>
              <a:rPr sz="2300" spc="80" dirty="0">
                <a:solidFill>
                  <a:srgbClr val="082F5D"/>
                </a:solidFill>
                <a:latin typeface="宋体"/>
                <a:cs typeface="宋体"/>
              </a:rPr>
              <a:t>j</a:t>
            </a:r>
            <a:r>
              <a:rPr sz="2300" spc="114" dirty="0">
                <a:solidFill>
                  <a:srgbClr val="232A36"/>
                </a:solidFill>
                <a:latin typeface="宋体"/>
                <a:cs typeface="宋体"/>
              </a:rPr>
              <a:t>的核心操作，更重要的是学会了如何将</a:t>
            </a:r>
            <a:r>
              <a:rPr sz="2300" spc="65" dirty="0">
                <a:solidFill>
                  <a:srgbClr val="082F5D"/>
                </a:solidFill>
                <a:latin typeface="宋体"/>
                <a:cs typeface="宋体"/>
              </a:rPr>
              <a:t>软</a:t>
            </a:r>
            <a:endParaRPr sz="2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300" dirty="0">
                <a:solidFill>
                  <a:srgbClr val="082F5D"/>
                </a:solidFill>
                <a:latin typeface="宋体"/>
                <a:cs typeface="宋体"/>
              </a:rPr>
              <a:t>件工程经验</a:t>
            </a:r>
            <a:r>
              <a:rPr sz="2300" dirty="0">
                <a:solidFill>
                  <a:srgbClr val="232A36"/>
                </a:solidFill>
                <a:latin typeface="宋体"/>
                <a:cs typeface="宋体"/>
              </a:rPr>
              <a:t>进行“数据化”与“模型化”</a:t>
            </a:r>
            <a:r>
              <a:rPr sz="2300" spc="-50" dirty="0">
                <a:solidFill>
                  <a:srgbClr val="3D3D49"/>
                </a:solidFill>
                <a:latin typeface="宋体"/>
                <a:cs typeface="宋体"/>
              </a:rPr>
              <a:t>。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5955" y="4617874"/>
            <a:ext cx="2091689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spc="80" dirty="0">
                <a:solidFill>
                  <a:srgbClr val="DD7E24"/>
                </a:solidFill>
                <a:latin typeface="宋体"/>
                <a:cs typeface="宋体"/>
              </a:rPr>
              <a:t>核心收获：</a:t>
            </a:r>
            <a:endParaRPr sz="315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458" y="5260387"/>
            <a:ext cx="8239125" cy="1748789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300" spc="90" dirty="0">
                <a:solidFill>
                  <a:srgbClr val="232A36"/>
                </a:solidFill>
                <a:latin typeface="宋体"/>
                <a:cs typeface="宋体"/>
              </a:rPr>
              <a:t>·</a:t>
            </a:r>
            <a:r>
              <a:rPr sz="2300" spc="85" dirty="0">
                <a:solidFill>
                  <a:srgbClr val="232A36"/>
                </a:solidFill>
                <a:latin typeface="宋体"/>
                <a:cs typeface="宋体"/>
              </a:rPr>
              <a:t>理解知识图谱作为知识存储与推理中枢的本质。</a:t>
            </a:r>
            <a:endParaRPr sz="2300" dirty="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300" spc="100" dirty="0">
                <a:solidFill>
                  <a:srgbClr val="232A36"/>
                </a:solidFill>
                <a:latin typeface="宋体"/>
                <a:cs typeface="宋体"/>
              </a:rPr>
              <a:t>·</a:t>
            </a:r>
            <a:r>
              <a:rPr sz="2300" spc="100" dirty="0">
                <a:solidFill>
                  <a:srgbClr val="232A36"/>
                </a:solidFill>
                <a:latin typeface="宋体"/>
              </a:rPr>
              <a:t>掌握Python进行工程化数据处理与图操作的能力。</a:t>
            </a:r>
          </a:p>
          <a:p>
            <a:pPr marL="20320">
              <a:lnSpc>
                <a:spcPct val="100000"/>
              </a:lnSpc>
              <a:spcBef>
                <a:spcPts val="1855"/>
              </a:spcBef>
            </a:pPr>
            <a:r>
              <a:rPr sz="2300" spc="75" dirty="0">
                <a:solidFill>
                  <a:srgbClr val="232A36"/>
                </a:solidFill>
                <a:latin typeface="宋体"/>
                <a:cs typeface="宋体"/>
              </a:rPr>
              <a:t>·培养了利用人工智能技术系统化解决现实工程问题的素养</a:t>
            </a:r>
            <a:r>
              <a:rPr sz="2300" spc="15" dirty="0">
                <a:solidFill>
                  <a:srgbClr val="3D3D49"/>
                </a:solidFill>
                <a:latin typeface="宋体"/>
                <a:cs typeface="宋体"/>
              </a:rPr>
              <a:t>。</a:t>
            </a:r>
            <a:endParaRPr sz="23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63898" y="3515377"/>
            <a:ext cx="1539240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55" dirty="0">
                <a:solidFill>
                  <a:srgbClr val="082F5D"/>
                </a:solidFill>
                <a:latin typeface="宋体"/>
                <a:cs typeface="宋体"/>
              </a:rPr>
              <a:t>教师寄语：</a:t>
            </a:r>
            <a:endParaRPr sz="23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69953" y="4137455"/>
            <a:ext cx="7919720" cy="178471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100330" algn="just">
              <a:lnSpc>
                <a:spcPct val="132700"/>
              </a:lnSpc>
              <a:spcBef>
                <a:spcPts val="120"/>
              </a:spcBef>
            </a:pPr>
            <a:r>
              <a:rPr lang="en-US" altLang="zh-CN" sz="2200" i="1" spc="15" dirty="0">
                <a:solidFill>
                  <a:srgbClr val="8A224B"/>
                </a:solidFill>
                <a:latin typeface="SimSun"/>
                <a:cs typeface="SimSun"/>
              </a:rPr>
              <a:t>"</a:t>
            </a:r>
            <a:r>
              <a:rPr lang="zh-CN" altLang="en-US" sz="2200" i="1" spc="15" dirty="0">
                <a:solidFill>
                  <a:srgbClr val="8A224B"/>
                </a:solidFill>
                <a:latin typeface="SimSun"/>
                <a:cs typeface="SimSun"/>
              </a:rPr>
              <a:t>知识图谱是联结符号人工智能与现代软件开发的桥梁。</a:t>
            </a:r>
            <a:r>
              <a:rPr lang="zh-CN" altLang="en-US" sz="2100" dirty="0">
                <a:solidFill>
                  <a:srgbClr val="8A224B"/>
                </a:solidFill>
                <a:latin typeface="SimSun"/>
                <a:cs typeface="SimSun"/>
              </a:rPr>
              <a:t>今</a:t>
            </a:r>
            <a:r>
              <a:rPr lang="zh-CN" altLang="en-US" sz="2200" i="1" spc="15" dirty="0">
                <a:solidFill>
                  <a:srgbClr val="8A224B"/>
                </a:solidFill>
                <a:latin typeface="SimSun"/>
                <a:cs typeface="SimSun"/>
              </a:rPr>
              <a:t>天我们构建的是一个异味检索系统</a:t>
            </a:r>
            <a:r>
              <a:rPr lang="en-US" altLang="zh-CN" sz="2200" i="1" spc="15" dirty="0">
                <a:solidFill>
                  <a:srgbClr val="8A224B"/>
                </a:solidFill>
                <a:latin typeface="SimSun"/>
                <a:cs typeface="SimSun"/>
              </a:rPr>
              <a:t>,</a:t>
            </a:r>
            <a:r>
              <a:rPr lang="zh-CN" altLang="en-US" sz="2200" i="1" spc="15" dirty="0">
                <a:solidFill>
                  <a:srgbClr val="8A224B"/>
                </a:solidFill>
                <a:latin typeface="SimSun"/>
                <a:cs typeface="SimSun"/>
              </a:rPr>
              <a:t>明天你们可以利用这一</a:t>
            </a:r>
            <a:r>
              <a:rPr lang="zh-CN" altLang="en-US" sz="2200" i="1" spc="20" dirty="0">
                <a:solidFill>
                  <a:srgbClr val="8A224B"/>
                </a:solidFill>
                <a:latin typeface="SimSun"/>
                <a:cs typeface="SimSun"/>
              </a:rPr>
              <a:t>思维构建出更复杂的行业智慧大脑。</a:t>
            </a:r>
            <a:endParaRPr lang="zh-CN" altLang="en-US" sz="2200" dirty="0">
              <a:latin typeface="SimSun"/>
              <a:cs typeface="SimSun"/>
            </a:endParaRPr>
          </a:p>
          <a:p>
            <a:pPr marL="12700" marR="5080" indent="100330" algn="just">
              <a:lnSpc>
                <a:spcPct val="132700"/>
              </a:lnSpc>
              <a:spcBef>
                <a:spcPts val="120"/>
              </a:spcBef>
            </a:pPr>
            <a:endParaRPr sz="22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851643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1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831</Words>
  <Application>Microsoft Office PowerPoint</Application>
  <PresentationFormat>自定义</PresentationFormat>
  <Paragraphs>118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 Unicode MS</vt:lpstr>
      <vt:lpstr>等线</vt:lpstr>
      <vt:lpstr>宋体</vt:lpstr>
      <vt:lpstr>宋体</vt:lpstr>
      <vt:lpstr>Arial</vt:lpstr>
      <vt:lpstr>Calibri</vt:lpstr>
      <vt:lpstr>Times New Roman</vt:lpstr>
      <vt:lpstr>Office Theme</vt:lpstr>
      <vt:lpstr>2_Office Theme</vt:lpstr>
      <vt:lpstr>3_Office Theme</vt:lpstr>
      <vt:lpstr>4_Office Theme</vt:lpstr>
      <vt:lpstr>5_Office Theme</vt:lpstr>
      <vt:lpstr>6_Office Theme</vt:lpstr>
      <vt:lpstr>10_Office Theme</vt:lpstr>
      <vt:lpstr>11_Office Theme</vt:lpstr>
      <vt:lpstr>知识图谱实验教学案例</vt:lpstr>
      <vt:lpstr>第一章：代码异味的背景与现状</vt:lpstr>
      <vt:lpstr>代码异味的影响与重构困境</vt:lpstr>
      <vt:lpstr>本次教学内容：知识图谱工程化实践</vt:lpstr>
      <vt:lpstr>．</vt:lpstr>
      <vt:lpstr>领域语料分析：从文本到三元组</vt:lpstr>
      <vt:lpstr>1．环境驱动与连接</vt:lpstr>
      <vt:lpstr>．</vt:lpstr>
      <vt:lpstr>PowerPoint 演示文稿</vt:lpstr>
      <vt:lpstr>1．模糊匹配逻辑</vt:lpstr>
      <vt:lpstr>通过graph.run()执行Cypher语句，并利用Python字典解析查询结果。以下是实现智能检索的核心逻辑：</vt:lpstr>
      <vt:lpstr>实验验收标准与达成度评定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：首头驱</dc:title>
  <dc:creator>颜锦添</dc:creator>
  <cp:lastModifiedBy>锦添 颜</cp:lastModifiedBy>
  <cp:revision>2</cp:revision>
  <dcterms:created xsi:type="dcterms:W3CDTF">2026-05-08T14:02:47Z</dcterms:created>
  <dcterms:modified xsi:type="dcterms:W3CDTF">2026-05-09T08:55:05Z</dcterms:modified>
</cp:coreProperties>
</file>